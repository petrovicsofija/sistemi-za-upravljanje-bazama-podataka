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31"/>
  </p:notesMasterIdLst>
  <p:sldIdLst>
    <p:sldId id="340" r:id="rId2"/>
    <p:sldId id="341" r:id="rId3"/>
    <p:sldId id="260" r:id="rId4"/>
    <p:sldId id="261" r:id="rId5"/>
    <p:sldId id="313" r:id="rId6"/>
    <p:sldId id="314" r:id="rId7"/>
    <p:sldId id="315" r:id="rId8"/>
    <p:sldId id="316" r:id="rId9"/>
    <p:sldId id="317" r:id="rId10"/>
    <p:sldId id="318" r:id="rId11"/>
    <p:sldId id="319" r:id="rId12"/>
    <p:sldId id="320" r:id="rId13"/>
    <p:sldId id="321" r:id="rId14"/>
    <p:sldId id="322" r:id="rId15"/>
    <p:sldId id="323" r:id="rId16"/>
    <p:sldId id="324" r:id="rId17"/>
    <p:sldId id="325" r:id="rId18"/>
    <p:sldId id="331" r:id="rId19"/>
    <p:sldId id="333" r:id="rId20"/>
    <p:sldId id="334" r:id="rId21"/>
    <p:sldId id="335" r:id="rId22"/>
    <p:sldId id="332" r:id="rId23"/>
    <p:sldId id="337" r:id="rId24"/>
    <p:sldId id="338" r:id="rId25"/>
    <p:sldId id="336" r:id="rId26"/>
    <p:sldId id="326" r:id="rId27"/>
    <p:sldId id="339" r:id="rId28"/>
    <p:sldId id="330" r:id="rId29"/>
    <p:sldId id="290" r:id="rId30"/>
  </p:sldIdLst>
  <p:sldSz cx="9144000" cy="5143500" type="screen16x9"/>
  <p:notesSz cx="6858000" cy="9144000"/>
  <p:embeddedFontLst>
    <p:embeddedFont>
      <p:font typeface="Tajawal" panose="020B0604020202020204" charset="-78"/>
      <p:regular r:id="rId32"/>
      <p:bold r:id="rId33"/>
    </p:embeddedFont>
    <p:embeddedFont>
      <p:font typeface="Voltaire" panose="020B0604020202020204" charset="0"/>
      <p:regular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DC68CF5-FEBB-4902-B55B-27E6DB776AA1}">
  <a:tblStyle styleId="{9DC68CF5-FEBB-4902-B55B-27E6DB776AA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91" autoAdjust="0"/>
    <p:restoredTop sz="92902" autoAdjust="0"/>
  </p:normalViewPr>
  <p:slideViewPr>
    <p:cSldViewPr snapToGrid="0">
      <p:cViewPr varScale="1">
        <p:scale>
          <a:sx n="106" d="100"/>
          <a:sy n="106" d="100"/>
        </p:scale>
        <p:origin x="917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a336d965fc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a336d965fc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90981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a336d965fc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a336d965fc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9680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a336d965fc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a336d965fc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ac6044513e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ac6044513e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ac6044513e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ac6044513e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49031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Objasni ograničenja preko primera</a:t>
            </a:r>
          </a:p>
        </p:txBody>
      </p:sp>
    </p:spTree>
    <p:extLst>
      <p:ext uri="{BB962C8B-B14F-4D97-AF65-F5344CB8AC3E}">
        <p14:creationId xmlns:p14="http://schemas.microsoft.com/office/powerpoint/2010/main" val="37522108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Objasni ograničenja na primeru kreiranja</a:t>
            </a:r>
          </a:p>
        </p:txBody>
      </p:sp>
    </p:spTree>
    <p:extLst>
      <p:ext uri="{BB962C8B-B14F-4D97-AF65-F5344CB8AC3E}">
        <p14:creationId xmlns:p14="http://schemas.microsoft.com/office/powerpoint/2010/main" val="11444540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Objasni ograničenja na primeru kreiranja</a:t>
            </a:r>
          </a:p>
        </p:txBody>
      </p:sp>
    </p:spTree>
    <p:extLst>
      <p:ext uri="{BB962C8B-B14F-4D97-AF65-F5344CB8AC3E}">
        <p14:creationId xmlns:p14="http://schemas.microsoft.com/office/powerpoint/2010/main" val="26067356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ac6044513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ac6044513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" TargetMode="Externa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title" idx="2"/>
          </p:nvPr>
        </p:nvSpPr>
        <p:spPr>
          <a:xfrm>
            <a:off x="1475076" y="2626125"/>
            <a:ext cx="2865300" cy="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Tajawal"/>
                <a:ea typeface="Tajawal"/>
                <a:cs typeface="Tajawal"/>
                <a:sym typeface="Tajaw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Tajawal"/>
                <a:ea typeface="Tajawal"/>
                <a:cs typeface="Tajawal"/>
                <a:sym typeface="Tajaw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Tajawal"/>
                <a:ea typeface="Tajawal"/>
                <a:cs typeface="Tajawal"/>
                <a:sym typeface="Tajaw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Tajawal"/>
                <a:ea typeface="Tajawal"/>
                <a:cs typeface="Tajawal"/>
                <a:sym typeface="Tajaw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Tajawal"/>
                <a:ea typeface="Tajawal"/>
                <a:cs typeface="Tajawal"/>
                <a:sym typeface="Tajaw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Tajawal"/>
                <a:ea typeface="Tajawal"/>
                <a:cs typeface="Tajawal"/>
                <a:sym typeface="Tajaw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Tajawal"/>
                <a:ea typeface="Tajawal"/>
                <a:cs typeface="Tajawal"/>
                <a:sym typeface="Tajaw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title" idx="3"/>
          </p:nvPr>
        </p:nvSpPr>
        <p:spPr>
          <a:xfrm>
            <a:off x="4990500" y="2626125"/>
            <a:ext cx="2865300" cy="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Tajawal"/>
                <a:ea typeface="Tajawal"/>
                <a:cs typeface="Tajawal"/>
                <a:sym typeface="Tajaw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Tajawal"/>
                <a:ea typeface="Tajawal"/>
                <a:cs typeface="Tajawal"/>
                <a:sym typeface="Tajaw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Tajawal"/>
                <a:ea typeface="Tajawal"/>
                <a:cs typeface="Tajawal"/>
                <a:sym typeface="Tajaw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Tajawal"/>
                <a:ea typeface="Tajawal"/>
                <a:cs typeface="Tajawal"/>
                <a:sym typeface="Tajaw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Tajawal"/>
                <a:ea typeface="Tajawal"/>
                <a:cs typeface="Tajawal"/>
                <a:sym typeface="Tajaw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Tajawal"/>
                <a:ea typeface="Tajawal"/>
                <a:cs typeface="Tajawal"/>
                <a:sym typeface="Tajaw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Tajawal"/>
                <a:ea typeface="Tajawal"/>
                <a:cs typeface="Tajawal"/>
                <a:sym typeface="Tajaw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grpSp>
        <p:nvGrpSpPr>
          <p:cNvPr id="72" name="Google Shape;72;p5"/>
          <p:cNvGrpSpPr/>
          <p:nvPr/>
        </p:nvGrpSpPr>
        <p:grpSpPr>
          <a:xfrm rot="10800000">
            <a:off x="8028963" y="-859575"/>
            <a:ext cx="803615" cy="2608950"/>
            <a:chOff x="157913" y="3349500"/>
            <a:chExt cx="803615" cy="2608950"/>
          </a:xfrm>
        </p:grpSpPr>
        <p:sp>
          <p:nvSpPr>
            <p:cNvPr id="73" name="Google Shape;73;p5"/>
            <p:cNvSpPr/>
            <p:nvPr/>
          </p:nvSpPr>
          <p:spPr>
            <a:xfrm>
              <a:off x="771928" y="3771875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464913" y="407835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157913" y="334950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5"/>
          <p:cNvSpPr txBox="1">
            <a:spLocks noGrp="1"/>
          </p:cNvSpPr>
          <p:nvPr>
            <p:ph type="subTitle" idx="1"/>
          </p:nvPr>
        </p:nvSpPr>
        <p:spPr>
          <a:xfrm>
            <a:off x="1475075" y="3118125"/>
            <a:ext cx="2865300" cy="11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"/>
          <p:cNvSpPr txBox="1">
            <a:spLocks noGrp="1"/>
          </p:cNvSpPr>
          <p:nvPr>
            <p:ph type="subTitle" idx="4"/>
          </p:nvPr>
        </p:nvSpPr>
        <p:spPr>
          <a:xfrm>
            <a:off x="4990500" y="3118125"/>
            <a:ext cx="2865300" cy="11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"/>
          <p:cNvSpPr txBox="1">
            <a:spLocks noGrp="1"/>
          </p:cNvSpPr>
          <p:nvPr>
            <p:ph type="title"/>
          </p:nvPr>
        </p:nvSpPr>
        <p:spPr>
          <a:xfrm>
            <a:off x="713425" y="1185637"/>
            <a:ext cx="3876000" cy="83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03" name="Google Shape;103;p9"/>
          <p:cNvSpPr txBox="1">
            <a:spLocks noGrp="1"/>
          </p:cNvSpPr>
          <p:nvPr>
            <p:ph type="subTitle" idx="1"/>
          </p:nvPr>
        </p:nvSpPr>
        <p:spPr>
          <a:xfrm>
            <a:off x="713225" y="2488789"/>
            <a:ext cx="3876000" cy="164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104" name="Google Shape;104;p9"/>
          <p:cNvGrpSpPr/>
          <p:nvPr/>
        </p:nvGrpSpPr>
        <p:grpSpPr>
          <a:xfrm rot="10800000">
            <a:off x="8028913" y="3349500"/>
            <a:ext cx="803615" cy="2608950"/>
            <a:chOff x="157913" y="3349500"/>
            <a:chExt cx="803615" cy="2608950"/>
          </a:xfrm>
        </p:grpSpPr>
        <p:sp>
          <p:nvSpPr>
            <p:cNvPr id="105" name="Google Shape;105;p9"/>
            <p:cNvSpPr/>
            <p:nvPr/>
          </p:nvSpPr>
          <p:spPr>
            <a:xfrm>
              <a:off x="771928" y="3771875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9"/>
            <p:cNvSpPr/>
            <p:nvPr/>
          </p:nvSpPr>
          <p:spPr>
            <a:xfrm>
              <a:off x="464913" y="407835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9"/>
            <p:cNvSpPr/>
            <p:nvPr/>
          </p:nvSpPr>
          <p:spPr>
            <a:xfrm>
              <a:off x="157913" y="334950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2"/>
          <p:cNvSpPr txBox="1">
            <a:spLocks noGrp="1"/>
          </p:cNvSpPr>
          <p:nvPr>
            <p:ph type="title"/>
          </p:nvPr>
        </p:nvSpPr>
        <p:spPr>
          <a:xfrm>
            <a:off x="2837250" y="539500"/>
            <a:ext cx="3469500" cy="95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32"/>
          <p:cNvSpPr txBox="1">
            <a:spLocks noGrp="1"/>
          </p:cNvSpPr>
          <p:nvPr>
            <p:ph type="subTitle" idx="1"/>
          </p:nvPr>
        </p:nvSpPr>
        <p:spPr>
          <a:xfrm>
            <a:off x="2837250" y="1727700"/>
            <a:ext cx="3469500" cy="11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32"/>
          <p:cNvSpPr txBox="1"/>
          <p:nvPr/>
        </p:nvSpPr>
        <p:spPr>
          <a:xfrm>
            <a:off x="2876250" y="3832700"/>
            <a:ext cx="3391500" cy="5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rPr>
              <a:t>CREDITS</a:t>
            </a:r>
            <a:r>
              <a:rPr lang="en" sz="1200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rPr>
              <a:t>: This presentation template was created by </a:t>
            </a:r>
            <a:r>
              <a:rPr lang="en" sz="1200" b="1">
                <a:solidFill>
                  <a:schemeClr val="lt2"/>
                </a:solidFill>
                <a:uFill>
                  <a:noFill/>
                </a:uFill>
                <a:latin typeface="Tajawal"/>
                <a:ea typeface="Tajawal"/>
                <a:cs typeface="Tajawal"/>
                <a:sym typeface="Tajaw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1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rPr>
              <a:t>,</a:t>
            </a:r>
            <a:r>
              <a:rPr lang="en" sz="1200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rPr>
              <a:t> including icons by </a:t>
            </a:r>
            <a:r>
              <a:rPr lang="en" sz="1200" b="1">
                <a:solidFill>
                  <a:schemeClr val="lt2"/>
                </a:solidFill>
                <a:uFill>
                  <a:noFill/>
                </a:uFill>
                <a:latin typeface="Tajawal"/>
                <a:ea typeface="Tajawal"/>
                <a:cs typeface="Tajawal"/>
                <a:sym typeface="Tajaw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rPr>
              <a:t> and infographics &amp; images by </a:t>
            </a:r>
            <a:r>
              <a:rPr lang="en" sz="1200" b="1">
                <a:solidFill>
                  <a:schemeClr val="lt2"/>
                </a:solidFill>
                <a:uFill>
                  <a:noFill/>
                </a:uFill>
                <a:latin typeface="Tajawal"/>
                <a:ea typeface="Tajawal"/>
                <a:cs typeface="Tajawal"/>
                <a:sym typeface="Tajaw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rPr>
              <a:t>.</a:t>
            </a:r>
            <a:endParaRPr sz="1200">
              <a:solidFill>
                <a:schemeClr val="lt2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grpSp>
        <p:nvGrpSpPr>
          <p:cNvPr id="357" name="Google Shape;357;p32"/>
          <p:cNvGrpSpPr/>
          <p:nvPr/>
        </p:nvGrpSpPr>
        <p:grpSpPr>
          <a:xfrm>
            <a:off x="311413" y="3349500"/>
            <a:ext cx="803615" cy="2608950"/>
            <a:chOff x="157913" y="3349500"/>
            <a:chExt cx="803615" cy="2608950"/>
          </a:xfrm>
        </p:grpSpPr>
        <p:sp>
          <p:nvSpPr>
            <p:cNvPr id="358" name="Google Shape;358;p32"/>
            <p:cNvSpPr/>
            <p:nvPr/>
          </p:nvSpPr>
          <p:spPr>
            <a:xfrm>
              <a:off x="771928" y="3771875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2"/>
            <p:cNvSpPr/>
            <p:nvPr/>
          </p:nvSpPr>
          <p:spPr>
            <a:xfrm>
              <a:off x="464913" y="407835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2"/>
            <p:cNvSpPr/>
            <p:nvPr/>
          </p:nvSpPr>
          <p:spPr>
            <a:xfrm>
              <a:off x="157913" y="334950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1" name="Google Shape;361;p32"/>
          <p:cNvGrpSpPr/>
          <p:nvPr/>
        </p:nvGrpSpPr>
        <p:grpSpPr>
          <a:xfrm rot="10800000">
            <a:off x="8028963" y="-857740"/>
            <a:ext cx="803615" cy="2608950"/>
            <a:chOff x="157913" y="3349500"/>
            <a:chExt cx="803615" cy="2608950"/>
          </a:xfrm>
        </p:grpSpPr>
        <p:sp>
          <p:nvSpPr>
            <p:cNvPr id="362" name="Google Shape;362;p32"/>
            <p:cNvSpPr/>
            <p:nvPr/>
          </p:nvSpPr>
          <p:spPr>
            <a:xfrm>
              <a:off x="771928" y="3771875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2"/>
            <p:cNvSpPr/>
            <p:nvPr/>
          </p:nvSpPr>
          <p:spPr>
            <a:xfrm>
              <a:off x="464913" y="407835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2"/>
            <p:cNvSpPr/>
            <p:nvPr/>
          </p:nvSpPr>
          <p:spPr>
            <a:xfrm>
              <a:off x="157913" y="334950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34"/>
          <p:cNvGrpSpPr/>
          <p:nvPr/>
        </p:nvGrpSpPr>
        <p:grpSpPr>
          <a:xfrm rot="10800000">
            <a:off x="8028906" y="-108067"/>
            <a:ext cx="803615" cy="5337604"/>
            <a:chOff x="157913" y="4078350"/>
            <a:chExt cx="803615" cy="1880100"/>
          </a:xfrm>
        </p:grpSpPr>
        <p:sp>
          <p:nvSpPr>
            <p:cNvPr id="368" name="Google Shape;368;p34"/>
            <p:cNvSpPr/>
            <p:nvPr/>
          </p:nvSpPr>
          <p:spPr>
            <a:xfrm>
              <a:off x="771928" y="407835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464913" y="407835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157913" y="407835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9_1_1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oogle Shape;372;p35"/>
          <p:cNvGrpSpPr/>
          <p:nvPr/>
        </p:nvGrpSpPr>
        <p:grpSpPr>
          <a:xfrm rot="10800000">
            <a:off x="8028906" y="1809811"/>
            <a:ext cx="803615" cy="4758203"/>
            <a:chOff x="157913" y="3349500"/>
            <a:chExt cx="803615" cy="2608950"/>
          </a:xfrm>
        </p:grpSpPr>
        <p:sp>
          <p:nvSpPr>
            <p:cNvPr id="373" name="Google Shape;373;p35"/>
            <p:cNvSpPr/>
            <p:nvPr/>
          </p:nvSpPr>
          <p:spPr>
            <a:xfrm>
              <a:off x="771928" y="3771875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5"/>
            <p:cNvSpPr/>
            <p:nvPr/>
          </p:nvSpPr>
          <p:spPr>
            <a:xfrm>
              <a:off x="464913" y="407835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5"/>
            <p:cNvSpPr/>
            <p:nvPr/>
          </p:nvSpPr>
          <p:spPr>
            <a:xfrm>
              <a:off x="157913" y="334950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" name="Google Shape;376;p35"/>
          <p:cNvGrpSpPr/>
          <p:nvPr/>
        </p:nvGrpSpPr>
        <p:grpSpPr>
          <a:xfrm>
            <a:off x="311419" y="-1493672"/>
            <a:ext cx="803615" cy="4758203"/>
            <a:chOff x="157913" y="3349500"/>
            <a:chExt cx="803615" cy="2608950"/>
          </a:xfrm>
        </p:grpSpPr>
        <p:sp>
          <p:nvSpPr>
            <p:cNvPr id="377" name="Google Shape;377;p35"/>
            <p:cNvSpPr/>
            <p:nvPr/>
          </p:nvSpPr>
          <p:spPr>
            <a:xfrm>
              <a:off x="771928" y="3771875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5"/>
            <p:cNvSpPr/>
            <p:nvPr/>
          </p:nvSpPr>
          <p:spPr>
            <a:xfrm>
              <a:off x="464913" y="407835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5"/>
            <p:cNvSpPr/>
            <p:nvPr/>
          </p:nvSpPr>
          <p:spPr>
            <a:xfrm>
              <a:off x="157913" y="334950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9_1_1_1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1" name="Google Shape;381;p36"/>
          <p:cNvGrpSpPr/>
          <p:nvPr/>
        </p:nvGrpSpPr>
        <p:grpSpPr>
          <a:xfrm rot="10800000">
            <a:off x="8028913" y="3349500"/>
            <a:ext cx="803615" cy="2608950"/>
            <a:chOff x="157913" y="3349500"/>
            <a:chExt cx="803615" cy="2608950"/>
          </a:xfrm>
        </p:grpSpPr>
        <p:sp>
          <p:nvSpPr>
            <p:cNvPr id="382" name="Google Shape;382;p36"/>
            <p:cNvSpPr/>
            <p:nvPr/>
          </p:nvSpPr>
          <p:spPr>
            <a:xfrm>
              <a:off x="771928" y="3771875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6"/>
            <p:cNvSpPr/>
            <p:nvPr/>
          </p:nvSpPr>
          <p:spPr>
            <a:xfrm>
              <a:off x="464913" y="407835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6"/>
            <p:cNvSpPr/>
            <p:nvPr/>
          </p:nvSpPr>
          <p:spPr>
            <a:xfrm>
              <a:off x="157913" y="334950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5" name="Google Shape;385;p36"/>
          <p:cNvGrpSpPr/>
          <p:nvPr/>
        </p:nvGrpSpPr>
        <p:grpSpPr>
          <a:xfrm rot="10800000" flipH="1">
            <a:off x="311413" y="3387325"/>
            <a:ext cx="803615" cy="2608950"/>
            <a:chOff x="157913" y="3349500"/>
            <a:chExt cx="803615" cy="2608950"/>
          </a:xfrm>
        </p:grpSpPr>
        <p:sp>
          <p:nvSpPr>
            <p:cNvPr id="386" name="Google Shape;386;p36"/>
            <p:cNvSpPr/>
            <p:nvPr/>
          </p:nvSpPr>
          <p:spPr>
            <a:xfrm>
              <a:off x="771928" y="3771875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6"/>
            <p:cNvSpPr/>
            <p:nvPr/>
          </p:nvSpPr>
          <p:spPr>
            <a:xfrm>
              <a:off x="464913" y="407835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6"/>
            <p:cNvSpPr/>
            <p:nvPr/>
          </p:nvSpPr>
          <p:spPr>
            <a:xfrm>
              <a:off x="157913" y="334950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9" name="Google Shape;389;p36"/>
          <p:cNvGrpSpPr/>
          <p:nvPr/>
        </p:nvGrpSpPr>
        <p:grpSpPr>
          <a:xfrm rot="10800000">
            <a:off x="8028913" y="-905925"/>
            <a:ext cx="803615" cy="2608950"/>
            <a:chOff x="157913" y="3349500"/>
            <a:chExt cx="803615" cy="2608950"/>
          </a:xfrm>
        </p:grpSpPr>
        <p:sp>
          <p:nvSpPr>
            <p:cNvPr id="390" name="Google Shape;390;p36"/>
            <p:cNvSpPr/>
            <p:nvPr/>
          </p:nvSpPr>
          <p:spPr>
            <a:xfrm>
              <a:off x="771928" y="3771875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6"/>
            <p:cNvSpPr/>
            <p:nvPr/>
          </p:nvSpPr>
          <p:spPr>
            <a:xfrm>
              <a:off x="464913" y="407835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6"/>
            <p:cNvSpPr/>
            <p:nvPr/>
          </p:nvSpPr>
          <p:spPr>
            <a:xfrm>
              <a:off x="157913" y="334950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3" name="Google Shape;393;p36"/>
          <p:cNvGrpSpPr/>
          <p:nvPr/>
        </p:nvGrpSpPr>
        <p:grpSpPr>
          <a:xfrm rot="10800000" flipH="1">
            <a:off x="311413" y="-868100"/>
            <a:ext cx="803615" cy="2608950"/>
            <a:chOff x="157913" y="3349500"/>
            <a:chExt cx="803615" cy="2608950"/>
          </a:xfrm>
        </p:grpSpPr>
        <p:sp>
          <p:nvSpPr>
            <p:cNvPr id="394" name="Google Shape;394;p36"/>
            <p:cNvSpPr/>
            <p:nvPr/>
          </p:nvSpPr>
          <p:spPr>
            <a:xfrm>
              <a:off x="771928" y="3771875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6"/>
            <p:cNvSpPr/>
            <p:nvPr/>
          </p:nvSpPr>
          <p:spPr>
            <a:xfrm>
              <a:off x="464913" y="407835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6"/>
            <p:cNvSpPr/>
            <p:nvPr/>
          </p:nvSpPr>
          <p:spPr>
            <a:xfrm>
              <a:off x="157913" y="334950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oltaire"/>
              <a:buNone/>
              <a:defRPr sz="2800" b="1">
                <a:solidFill>
                  <a:schemeClr val="dk1"/>
                </a:solidFill>
                <a:latin typeface="Voltaire"/>
                <a:ea typeface="Voltaire"/>
                <a:cs typeface="Voltaire"/>
                <a:sym typeface="Voltair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46950"/>
            <a:ext cx="7717500" cy="3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Char char="●"/>
              <a:defRPr sz="1600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Char char="○"/>
              <a:defRPr sz="1600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Char char="■"/>
              <a:defRPr sz="1600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Char char="●"/>
              <a:defRPr sz="1600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Char char="○"/>
              <a:defRPr sz="1600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Char char="■"/>
              <a:defRPr sz="1600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Char char="●"/>
              <a:defRPr sz="1600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Char char="○"/>
              <a:defRPr sz="1600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Char char="■"/>
              <a:defRPr sz="1600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5" r:id="rId2"/>
    <p:sldLayoutId id="2147483658" r:id="rId3"/>
    <p:sldLayoutId id="2147483678" r:id="rId4"/>
    <p:sldLayoutId id="2147483679" r:id="rId5"/>
    <p:sldLayoutId id="2147483680" r:id="rId6"/>
    <p:sldLayoutId id="2147483681" r:id="rId7"/>
    <p:sldLayoutId id="2147483682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mailto:sofija.Petrovic@elfak.r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405;p39">
            <a:extLst>
              <a:ext uri="{FF2B5EF4-FFF2-40B4-BE49-F238E27FC236}">
                <a16:creationId xmlns:a16="http://schemas.microsoft.com/office/drawing/2014/main" id="{49423348-AC83-449B-B981-513B58553B51}"/>
              </a:ext>
            </a:extLst>
          </p:cNvPr>
          <p:cNvSpPr txBox="1">
            <a:spLocks/>
          </p:cNvSpPr>
          <p:nvPr/>
        </p:nvSpPr>
        <p:spPr>
          <a:xfrm>
            <a:off x="2904793" y="516258"/>
            <a:ext cx="5700783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Voltaire"/>
              <a:buNone/>
              <a:defRPr sz="4800" b="1" i="0" u="none" strike="noStrike" cap="none">
                <a:solidFill>
                  <a:schemeClr val="dk1"/>
                </a:solidFill>
                <a:latin typeface="Voltaire"/>
                <a:ea typeface="Voltaire"/>
                <a:cs typeface="Voltaire"/>
                <a:sym typeface="Voltair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l-PL" sz="4400" dirty="0"/>
              <a:t>Fizičko projektovanje baze i optimizacija podataka</a:t>
            </a:r>
          </a:p>
        </p:txBody>
      </p:sp>
      <p:sp>
        <p:nvSpPr>
          <p:cNvPr id="13" name="Google Shape;406;p39">
            <a:extLst>
              <a:ext uri="{FF2B5EF4-FFF2-40B4-BE49-F238E27FC236}">
                <a16:creationId xmlns:a16="http://schemas.microsoft.com/office/drawing/2014/main" id="{CD34D17C-6327-41BD-9644-C31491C83DB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847449" y="2851545"/>
            <a:ext cx="4001100" cy="4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ME" dirty="0"/>
              <a:t>MS SQL Server</a:t>
            </a:r>
            <a:endParaRPr dirty="0"/>
          </a:p>
        </p:txBody>
      </p:sp>
      <p:grpSp>
        <p:nvGrpSpPr>
          <p:cNvPr id="14" name="Google Shape;473;p39">
            <a:extLst>
              <a:ext uri="{FF2B5EF4-FFF2-40B4-BE49-F238E27FC236}">
                <a16:creationId xmlns:a16="http://schemas.microsoft.com/office/drawing/2014/main" id="{74A5AF27-737B-4BF6-A910-9066FD1CD54D}"/>
              </a:ext>
            </a:extLst>
          </p:cNvPr>
          <p:cNvGrpSpPr/>
          <p:nvPr/>
        </p:nvGrpSpPr>
        <p:grpSpPr>
          <a:xfrm>
            <a:off x="5310524" y="2568858"/>
            <a:ext cx="885350" cy="189600"/>
            <a:chOff x="5477200" y="3278121"/>
            <a:chExt cx="885350" cy="189600"/>
          </a:xfrm>
        </p:grpSpPr>
        <p:sp>
          <p:nvSpPr>
            <p:cNvPr id="15" name="Google Shape;474;p39">
              <a:extLst>
                <a:ext uri="{FF2B5EF4-FFF2-40B4-BE49-F238E27FC236}">
                  <a16:creationId xmlns:a16="http://schemas.microsoft.com/office/drawing/2014/main" id="{A6E5FE19-B431-486D-9FEA-A3E55724915D}"/>
                </a:ext>
              </a:extLst>
            </p:cNvPr>
            <p:cNvSpPr/>
            <p:nvPr/>
          </p:nvSpPr>
          <p:spPr>
            <a:xfrm>
              <a:off x="6172950" y="3278121"/>
              <a:ext cx="189600" cy="18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475;p39">
              <a:extLst>
                <a:ext uri="{FF2B5EF4-FFF2-40B4-BE49-F238E27FC236}">
                  <a16:creationId xmlns:a16="http://schemas.microsoft.com/office/drawing/2014/main" id="{185C555C-76A1-4060-92AC-555C73D78151}"/>
                </a:ext>
              </a:extLst>
            </p:cNvPr>
            <p:cNvSpPr/>
            <p:nvPr/>
          </p:nvSpPr>
          <p:spPr>
            <a:xfrm>
              <a:off x="5825075" y="3278121"/>
              <a:ext cx="189600" cy="18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476;p39">
              <a:extLst>
                <a:ext uri="{FF2B5EF4-FFF2-40B4-BE49-F238E27FC236}">
                  <a16:creationId xmlns:a16="http://schemas.microsoft.com/office/drawing/2014/main" id="{4B940E21-A1D9-4BAB-AA74-6B9CA219138E}"/>
                </a:ext>
              </a:extLst>
            </p:cNvPr>
            <p:cNvSpPr/>
            <p:nvPr/>
          </p:nvSpPr>
          <p:spPr>
            <a:xfrm>
              <a:off x="5477200" y="3278121"/>
              <a:ext cx="189600" cy="189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" name="Picture 2" descr="What's New in MS SQL 2019 | Soaring Eagle Consulting">
            <a:extLst>
              <a:ext uri="{FF2B5EF4-FFF2-40B4-BE49-F238E27FC236}">
                <a16:creationId xmlns:a16="http://schemas.microsoft.com/office/drawing/2014/main" id="{310B55FE-DE40-429D-AE1C-0F787E924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24" y="469521"/>
            <a:ext cx="2582659" cy="1721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Google Shape;406;p39">
            <a:extLst>
              <a:ext uri="{FF2B5EF4-FFF2-40B4-BE49-F238E27FC236}">
                <a16:creationId xmlns:a16="http://schemas.microsoft.com/office/drawing/2014/main" id="{59941651-9265-4F5A-A660-8F96BE540FDE}"/>
              </a:ext>
            </a:extLst>
          </p:cNvPr>
          <p:cNvSpPr txBox="1">
            <a:spLocks/>
          </p:cNvSpPr>
          <p:nvPr/>
        </p:nvSpPr>
        <p:spPr>
          <a:xfrm>
            <a:off x="3921599" y="3317145"/>
            <a:ext cx="4001100" cy="4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ajawal"/>
              <a:buNone/>
              <a:defRPr sz="28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ajawal"/>
              <a:buNone/>
              <a:defRPr sz="28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ajawal"/>
              <a:buNone/>
              <a:defRPr sz="28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ajawal"/>
              <a:buNone/>
              <a:defRPr sz="28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ajawal"/>
              <a:buNone/>
              <a:defRPr sz="28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ajawal"/>
              <a:buNone/>
              <a:defRPr sz="28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ajawal"/>
              <a:buNone/>
              <a:defRPr sz="28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ajawal"/>
              <a:buNone/>
              <a:defRPr sz="28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0" indent="0"/>
            <a:r>
              <a:rPr lang="sr-Latn-ME" dirty="0"/>
              <a:t>Student: Sofija Petrović</a:t>
            </a:r>
          </a:p>
          <a:p>
            <a:pPr marL="0" indent="0"/>
            <a:r>
              <a:rPr lang="sr-Latn-ME" dirty="0"/>
              <a:t>Mentor: </a:t>
            </a:r>
            <a:r>
              <a:rPr lang="sr-Latn-ME" dirty="0" err="1"/>
              <a:t>doc</a:t>
            </a:r>
            <a:r>
              <a:rPr lang="sr-Latn-ME" dirty="0"/>
              <a:t>. dr. Aleksandar Stanimirović</a:t>
            </a:r>
          </a:p>
        </p:txBody>
      </p:sp>
    </p:spTree>
    <p:extLst>
      <p:ext uri="{BB962C8B-B14F-4D97-AF65-F5344CB8AC3E}">
        <p14:creationId xmlns:p14="http://schemas.microsoft.com/office/powerpoint/2010/main" val="2529431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487;p41">
            <a:extLst>
              <a:ext uri="{FF2B5EF4-FFF2-40B4-BE49-F238E27FC236}">
                <a16:creationId xmlns:a16="http://schemas.microsoft.com/office/drawing/2014/main" id="{C1A8BB64-20B3-4D39-9FB2-CF494B59BC6B}"/>
              </a:ext>
            </a:extLst>
          </p:cNvPr>
          <p:cNvSpPr/>
          <p:nvPr/>
        </p:nvSpPr>
        <p:spPr>
          <a:xfrm>
            <a:off x="1377795" y="828865"/>
            <a:ext cx="696000" cy="69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488;p41">
            <a:extLst>
              <a:ext uri="{FF2B5EF4-FFF2-40B4-BE49-F238E27FC236}">
                <a16:creationId xmlns:a16="http://schemas.microsoft.com/office/drawing/2014/main" id="{57A34F8E-B542-4938-925F-E810D370AC9A}"/>
              </a:ext>
            </a:extLst>
          </p:cNvPr>
          <p:cNvSpPr/>
          <p:nvPr/>
        </p:nvSpPr>
        <p:spPr>
          <a:xfrm>
            <a:off x="4023193" y="833283"/>
            <a:ext cx="696000" cy="696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489;p41">
            <a:extLst>
              <a:ext uri="{FF2B5EF4-FFF2-40B4-BE49-F238E27FC236}">
                <a16:creationId xmlns:a16="http://schemas.microsoft.com/office/drawing/2014/main" id="{3110A88C-E80C-461A-875F-EF14458B1938}"/>
              </a:ext>
            </a:extLst>
          </p:cNvPr>
          <p:cNvSpPr txBox="1">
            <a:spLocks/>
          </p:cNvSpPr>
          <p:nvPr/>
        </p:nvSpPr>
        <p:spPr>
          <a:xfrm>
            <a:off x="282988" y="214026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Voltaire"/>
              <a:buNone/>
              <a:defRPr sz="7000" b="1" i="0" u="none" strike="noStrike" cap="none">
                <a:solidFill>
                  <a:schemeClr val="dk1"/>
                </a:solidFill>
                <a:latin typeface="Voltaire"/>
                <a:ea typeface="Voltaire"/>
                <a:cs typeface="Voltaire"/>
                <a:sym typeface="Voltair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sr-Latn-ME" sz="3200" dirty="0"/>
              <a:t>Sadržaj</a:t>
            </a:r>
          </a:p>
        </p:txBody>
      </p:sp>
      <p:sp>
        <p:nvSpPr>
          <p:cNvPr id="39" name="Google Shape;492;p41">
            <a:extLst>
              <a:ext uri="{FF2B5EF4-FFF2-40B4-BE49-F238E27FC236}">
                <a16:creationId xmlns:a16="http://schemas.microsoft.com/office/drawing/2014/main" id="{E0F2CF96-7940-4F00-BEF0-9793B78D80CD}"/>
              </a:ext>
            </a:extLst>
          </p:cNvPr>
          <p:cNvSpPr txBox="1">
            <a:spLocks/>
          </p:cNvSpPr>
          <p:nvPr/>
        </p:nvSpPr>
        <p:spPr>
          <a:xfrm>
            <a:off x="1288245" y="930115"/>
            <a:ext cx="875100" cy="4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600" b="1" dirty="0">
                <a:latin typeface="Voltaire" panose="020B0604020202020204" charset="0"/>
              </a:rPr>
              <a:t>01</a:t>
            </a:r>
          </a:p>
        </p:txBody>
      </p:sp>
      <p:sp>
        <p:nvSpPr>
          <p:cNvPr id="40" name="Google Shape;494;p41">
            <a:extLst>
              <a:ext uri="{FF2B5EF4-FFF2-40B4-BE49-F238E27FC236}">
                <a16:creationId xmlns:a16="http://schemas.microsoft.com/office/drawing/2014/main" id="{4B5309E7-1609-44D2-8EE6-0C4B10FBE935}"/>
              </a:ext>
            </a:extLst>
          </p:cNvPr>
          <p:cNvSpPr/>
          <p:nvPr/>
        </p:nvSpPr>
        <p:spPr>
          <a:xfrm>
            <a:off x="6668591" y="877104"/>
            <a:ext cx="696000" cy="69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500;p41">
            <a:extLst>
              <a:ext uri="{FF2B5EF4-FFF2-40B4-BE49-F238E27FC236}">
                <a16:creationId xmlns:a16="http://schemas.microsoft.com/office/drawing/2014/main" id="{D87858D8-8256-4CC9-A593-831716EEB4C7}"/>
              </a:ext>
            </a:extLst>
          </p:cNvPr>
          <p:cNvSpPr txBox="1">
            <a:spLocks/>
          </p:cNvSpPr>
          <p:nvPr/>
        </p:nvSpPr>
        <p:spPr>
          <a:xfrm flipH="1">
            <a:off x="2505522" y="1468619"/>
            <a:ext cx="3804700" cy="10491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nn-NO" sz="1800" b="1" dirty="0">
                <a:latin typeface="Voltaire" panose="020B0604020202020204" charset="0"/>
              </a:rPr>
              <a:t>SQL </a:t>
            </a:r>
            <a:r>
              <a:rPr lang="nn-NO" sz="1800" b="1" dirty="0" err="1">
                <a:latin typeface="Voltaire" panose="020B0604020202020204" charset="0"/>
              </a:rPr>
              <a:t>fajl</a:t>
            </a:r>
            <a:r>
              <a:rPr lang="nn-NO" sz="1800" b="1" dirty="0">
                <a:latin typeface="Voltaire" panose="020B0604020202020204" charset="0"/>
              </a:rPr>
              <a:t> </a:t>
            </a:r>
            <a:r>
              <a:rPr lang="nn-NO" sz="1800" b="1" dirty="0" err="1">
                <a:latin typeface="Voltaire" panose="020B0604020202020204" charset="0"/>
              </a:rPr>
              <a:t>sistem</a:t>
            </a:r>
            <a:r>
              <a:rPr lang="sr-Latn-ME" sz="1800" b="1" dirty="0">
                <a:latin typeface="Voltaire" panose="020B0604020202020204" charset="0"/>
              </a:rPr>
              <a:t>,</a:t>
            </a:r>
          </a:p>
          <a:p>
            <a:pPr algn="ctr"/>
            <a:r>
              <a:rPr lang="sr-Latn-ME" sz="1800" b="1" dirty="0">
                <a:latin typeface="Voltaire" panose="020B0604020202020204" charset="0"/>
              </a:rPr>
              <a:t>S</a:t>
            </a:r>
            <a:r>
              <a:rPr lang="nn-NO" sz="1800" b="1" dirty="0" err="1">
                <a:latin typeface="Voltaire" panose="020B0604020202020204" charset="0"/>
              </a:rPr>
              <a:t>kladištenje</a:t>
            </a:r>
            <a:r>
              <a:rPr lang="nn-NO" sz="1800" b="1" dirty="0">
                <a:latin typeface="Voltaire" panose="020B0604020202020204" charset="0"/>
              </a:rPr>
              <a:t> </a:t>
            </a:r>
            <a:r>
              <a:rPr lang="nn-NO" sz="1800" b="1" dirty="0" err="1">
                <a:latin typeface="Voltaire" panose="020B0604020202020204" charset="0"/>
              </a:rPr>
              <a:t>podataka</a:t>
            </a:r>
            <a:r>
              <a:rPr lang="sr-Latn-ME" sz="1800" b="1" dirty="0">
                <a:latin typeface="Voltaire" panose="020B0604020202020204" charset="0"/>
              </a:rPr>
              <a:t>,</a:t>
            </a:r>
          </a:p>
          <a:p>
            <a:pPr algn="ctr"/>
            <a:r>
              <a:rPr lang="sr-Latn-ME" sz="1800" b="1" dirty="0">
                <a:latin typeface="Voltaire" panose="020B0604020202020204" charset="0"/>
              </a:rPr>
              <a:t>Tipovi podataka,</a:t>
            </a:r>
          </a:p>
          <a:p>
            <a:pPr algn="ctr"/>
            <a:r>
              <a:rPr lang="sr-Latn-ME" sz="1800" b="1" dirty="0">
                <a:latin typeface="Voltaire" panose="020B0604020202020204" charset="0"/>
              </a:rPr>
              <a:t>Implicitna konverzija,</a:t>
            </a:r>
          </a:p>
          <a:p>
            <a:pPr algn="ctr"/>
            <a:r>
              <a:rPr lang="sr-Latn-ME" sz="1800" b="1" dirty="0">
                <a:latin typeface="Voltaire" panose="020B0604020202020204" charset="0"/>
              </a:rPr>
              <a:t>Kompresija podataka</a:t>
            </a:r>
            <a:endParaRPr lang="nn-NO" sz="1800" b="1" dirty="0">
              <a:latin typeface="Voltaire" panose="020B0604020202020204" charset="0"/>
            </a:endParaRPr>
          </a:p>
        </p:txBody>
      </p:sp>
      <p:sp>
        <p:nvSpPr>
          <p:cNvPr id="42" name="Google Shape;496;p41">
            <a:extLst>
              <a:ext uri="{FF2B5EF4-FFF2-40B4-BE49-F238E27FC236}">
                <a16:creationId xmlns:a16="http://schemas.microsoft.com/office/drawing/2014/main" id="{1873DBFC-E97A-4216-894A-5D32D8DEDD0F}"/>
              </a:ext>
            </a:extLst>
          </p:cNvPr>
          <p:cNvSpPr txBox="1">
            <a:spLocks/>
          </p:cNvSpPr>
          <p:nvPr/>
        </p:nvSpPr>
        <p:spPr>
          <a:xfrm>
            <a:off x="1592918" y="3969430"/>
            <a:ext cx="2778275" cy="1117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sr-Latn-ME" sz="2000" b="1" dirty="0">
                <a:latin typeface="Voltaire" panose="020B0604020202020204" charset="0"/>
              </a:rPr>
              <a:t>Pogledi,</a:t>
            </a:r>
          </a:p>
          <a:p>
            <a:pPr algn="ctr"/>
            <a:r>
              <a:rPr lang="sr-Latn-ME" sz="2000" b="1" dirty="0">
                <a:latin typeface="Voltaire" panose="020B0604020202020204" charset="0"/>
              </a:rPr>
              <a:t>Indeksiranje pogleda,</a:t>
            </a:r>
          </a:p>
          <a:p>
            <a:pPr algn="ctr"/>
            <a:r>
              <a:rPr lang="sr-Latn-ME" sz="2000" b="1" dirty="0">
                <a:latin typeface="Voltaire" panose="020B0604020202020204" charset="0"/>
              </a:rPr>
              <a:t>Particionisanje pogleda</a:t>
            </a:r>
          </a:p>
        </p:txBody>
      </p:sp>
      <p:sp>
        <p:nvSpPr>
          <p:cNvPr id="43" name="Google Shape;496;p41">
            <a:extLst>
              <a:ext uri="{FF2B5EF4-FFF2-40B4-BE49-F238E27FC236}">
                <a16:creationId xmlns:a16="http://schemas.microsoft.com/office/drawing/2014/main" id="{C82F2369-EE77-487C-A100-0364692F0405}"/>
              </a:ext>
            </a:extLst>
          </p:cNvPr>
          <p:cNvSpPr txBox="1">
            <a:spLocks/>
          </p:cNvSpPr>
          <p:nvPr/>
        </p:nvSpPr>
        <p:spPr>
          <a:xfrm>
            <a:off x="5784847" y="1873271"/>
            <a:ext cx="2778275" cy="4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sr-Latn-ME" sz="2000" b="1" dirty="0">
                <a:latin typeface="Voltaire" panose="020B0604020202020204" charset="0"/>
              </a:rPr>
              <a:t>Normalizacija tabela,</a:t>
            </a:r>
          </a:p>
          <a:p>
            <a:pPr algn="ctr"/>
            <a:r>
              <a:rPr lang="sr-Latn-ME" sz="2000" b="1" dirty="0">
                <a:latin typeface="Voltaire" panose="020B0604020202020204" charset="0"/>
              </a:rPr>
              <a:t>Ograničenja</a:t>
            </a:r>
          </a:p>
        </p:txBody>
      </p:sp>
      <p:sp>
        <p:nvSpPr>
          <p:cNvPr id="44" name="Google Shape;487;p41">
            <a:extLst>
              <a:ext uri="{FF2B5EF4-FFF2-40B4-BE49-F238E27FC236}">
                <a16:creationId xmlns:a16="http://schemas.microsoft.com/office/drawing/2014/main" id="{8520B1E2-EC90-44DB-948F-518D188141FC}"/>
              </a:ext>
            </a:extLst>
          </p:cNvPr>
          <p:cNvSpPr/>
          <p:nvPr/>
        </p:nvSpPr>
        <p:spPr>
          <a:xfrm>
            <a:off x="2595072" y="3273430"/>
            <a:ext cx="696000" cy="69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" name="Google Shape;488;p41">
            <a:extLst>
              <a:ext uri="{FF2B5EF4-FFF2-40B4-BE49-F238E27FC236}">
                <a16:creationId xmlns:a16="http://schemas.microsoft.com/office/drawing/2014/main" id="{27FCBE5B-5EF0-4CCD-9256-7CE753DD3DA8}"/>
              </a:ext>
            </a:extLst>
          </p:cNvPr>
          <p:cNvSpPr/>
          <p:nvPr/>
        </p:nvSpPr>
        <p:spPr>
          <a:xfrm>
            <a:off x="5837508" y="3275610"/>
            <a:ext cx="696000" cy="696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96;p41">
            <a:extLst>
              <a:ext uri="{FF2B5EF4-FFF2-40B4-BE49-F238E27FC236}">
                <a16:creationId xmlns:a16="http://schemas.microsoft.com/office/drawing/2014/main" id="{7C09ACFE-0C61-4044-96C3-94AF1093863D}"/>
              </a:ext>
            </a:extLst>
          </p:cNvPr>
          <p:cNvSpPr txBox="1">
            <a:spLocks/>
          </p:cNvSpPr>
          <p:nvPr/>
        </p:nvSpPr>
        <p:spPr>
          <a:xfrm>
            <a:off x="4778508" y="4067448"/>
            <a:ext cx="2118000" cy="4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sr-Latn-ME" sz="2400" b="1" dirty="0">
                <a:latin typeface="Voltaire" panose="020B0604020202020204" charset="0"/>
              </a:rPr>
              <a:t>Zaključak</a:t>
            </a:r>
          </a:p>
        </p:txBody>
      </p:sp>
      <p:sp>
        <p:nvSpPr>
          <p:cNvPr id="47" name="Google Shape;492;p41">
            <a:extLst>
              <a:ext uri="{FF2B5EF4-FFF2-40B4-BE49-F238E27FC236}">
                <a16:creationId xmlns:a16="http://schemas.microsoft.com/office/drawing/2014/main" id="{E33E5198-D26A-4EAB-ADF0-BA1E7A0D4CA8}"/>
              </a:ext>
            </a:extLst>
          </p:cNvPr>
          <p:cNvSpPr txBox="1">
            <a:spLocks/>
          </p:cNvSpPr>
          <p:nvPr/>
        </p:nvSpPr>
        <p:spPr>
          <a:xfrm>
            <a:off x="3933643" y="963930"/>
            <a:ext cx="875100" cy="4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600" b="1" dirty="0">
                <a:latin typeface="Voltaire" panose="020B0604020202020204" charset="0"/>
              </a:rPr>
              <a:t>0</a:t>
            </a:r>
            <a:r>
              <a:rPr lang="sr-Latn-ME" sz="1600" b="1" dirty="0">
                <a:latin typeface="Voltaire" panose="020B0604020202020204" charset="0"/>
              </a:rPr>
              <a:t>2</a:t>
            </a:r>
            <a:endParaRPr lang="en" sz="1600" b="1" dirty="0">
              <a:latin typeface="Voltaire" panose="020B0604020202020204" charset="0"/>
            </a:endParaRPr>
          </a:p>
        </p:txBody>
      </p:sp>
      <p:sp>
        <p:nvSpPr>
          <p:cNvPr id="48" name="Google Shape;492;p41">
            <a:extLst>
              <a:ext uri="{FF2B5EF4-FFF2-40B4-BE49-F238E27FC236}">
                <a16:creationId xmlns:a16="http://schemas.microsoft.com/office/drawing/2014/main" id="{13C38940-660B-4285-928D-442ECB5D09FA}"/>
              </a:ext>
            </a:extLst>
          </p:cNvPr>
          <p:cNvSpPr txBox="1">
            <a:spLocks/>
          </p:cNvSpPr>
          <p:nvPr/>
        </p:nvSpPr>
        <p:spPr>
          <a:xfrm>
            <a:off x="6579041" y="995628"/>
            <a:ext cx="875100" cy="4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600" b="1" dirty="0">
                <a:latin typeface="Voltaire" panose="020B0604020202020204" charset="0"/>
              </a:rPr>
              <a:t>0</a:t>
            </a:r>
            <a:r>
              <a:rPr lang="sr-Latn-ME" sz="1600" b="1" dirty="0">
                <a:latin typeface="Voltaire" panose="020B0604020202020204" charset="0"/>
              </a:rPr>
              <a:t>3</a:t>
            </a:r>
            <a:endParaRPr lang="en" sz="1600" b="1" dirty="0">
              <a:latin typeface="Voltaire" panose="020B0604020202020204" charset="0"/>
            </a:endParaRPr>
          </a:p>
        </p:txBody>
      </p:sp>
      <p:sp>
        <p:nvSpPr>
          <p:cNvPr id="49" name="Google Shape;492;p41">
            <a:extLst>
              <a:ext uri="{FF2B5EF4-FFF2-40B4-BE49-F238E27FC236}">
                <a16:creationId xmlns:a16="http://schemas.microsoft.com/office/drawing/2014/main" id="{3A2C6D75-6E78-4B6B-A83C-5181BBB543F8}"/>
              </a:ext>
            </a:extLst>
          </p:cNvPr>
          <p:cNvSpPr txBox="1">
            <a:spLocks/>
          </p:cNvSpPr>
          <p:nvPr/>
        </p:nvSpPr>
        <p:spPr>
          <a:xfrm>
            <a:off x="2505522" y="3375770"/>
            <a:ext cx="875100" cy="4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600" b="1" dirty="0">
                <a:latin typeface="Voltaire" panose="020B0604020202020204" charset="0"/>
              </a:rPr>
              <a:t>0</a:t>
            </a:r>
            <a:r>
              <a:rPr lang="sr-Latn-ME" sz="1600" b="1" dirty="0">
                <a:latin typeface="Voltaire" panose="020B0604020202020204" charset="0"/>
              </a:rPr>
              <a:t>4</a:t>
            </a:r>
            <a:endParaRPr lang="en" sz="1600" b="1" dirty="0">
              <a:latin typeface="Voltaire" panose="020B0604020202020204" charset="0"/>
            </a:endParaRPr>
          </a:p>
        </p:txBody>
      </p:sp>
      <p:sp>
        <p:nvSpPr>
          <p:cNvPr id="50" name="Google Shape;492;p41">
            <a:extLst>
              <a:ext uri="{FF2B5EF4-FFF2-40B4-BE49-F238E27FC236}">
                <a16:creationId xmlns:a16="http://schemas.microsoft.com/office/drawing/2014/main" id="{D8D86784-6AC8-4D9A-95D7-5B9D2A6696AF}"/>
              </a:ext>
            </a:extLst>
          </p:cNvPr>
          <p:cNvSpPr txBox="1">
            <a:spLocks/>
          </p:cNvSpPr>
          <p:nvPr/>
        </p:nvSpPr>
        <p:spPr>
          <a:xfrm>
            <a:off x="5747958" y="3375770"/>
            <a:ext cx="875100" cy="4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sr-Latn-ME" sz="1600" b="1" dirty="0">
                <a:latin typeface="Voltaire" panose="020B0604020202020204" charset="0"/>
              </a:rPr>
              <a:t>05</a:t>
            </a:r>
            <a:endParaRPr lang="en" sz="1600" b="1" dirty="0">
              <a:latin typeface="Voltaire" panose="020B060402020202020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BD2C1CF-799C-49B1-8977-10A66430512C}"/>
              </a:ext>
            </a:extLst>
          </p:cNvPr>
          <p:cNvCxnSpPr>
            <a:cxnSpLocks/>
          </p:cNvCxnSpPr>
          <p:nvPr/>
        </p:nvCxnSpPr>
        <p:spPr>
          <a:xfrm>
            <a:off x="522617" y="2995962"/>
            <a:ext cx="8279413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Google Shape;496;p41">
            <a:extLst>
              <a:ext uri="{FF2B5EF4-FFF2-40B4-BE49-F238E27FC236}">
                <a16:creationId xmlns:a16="http://schemas.microsoft.com/office/drawing/2014/main" id="{2A4397A9-15BB-4099-8932-EC65B7705890}"/>
              </a:ext>
            </a:extLst>
          </p:cNvPr>
          <p:cNvSpPr txBox="1">
            <a:spLocks/>
          </p:cNvSpPr>
          <p:nvPr/>
        </p:nvSpPr>
        <p:spPr>
          <a:xfrm>
            <a:off x="45345" y="1562367"/>
            <a:ext cx="2118000" cy="4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sr-Latn-ME" sz="2800" b="1" dirty="0">
                <a:latin typeface="Voltaire" panose="020B0604020202020204" charset="0"/>
              </a:rPr>
              <a:t>Uvod</a:t>
            </a:r>
          </a:p>
        </p:txBody>
      </p:sp>
    </p:spTree>
    <p:extLst>
      <p:ext uri="{BB962C8B-B14F-4D97-AF65-F5344CB8AC3E}">
        <p14:creationId xmlns:p14="http://schemas.microsoft.com/office/powerpoint/2010/main" val="173990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3"/>
          <p:cNvSpPr txBox="1">
            <a:spLocks noGrp="1"/>
          </p:cNvSpPr>
          <p:nvPr>
            <p:ph type="title"/>
          </p:nvPr>
        </p:nvSpPr>
        <p:spPr>
          <a:xfrm>
            <a:off x="513963" y="1921618"/>
            <a:ext cx="3876000" cy="83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ME" dirty="0"/>
              <a:t>01 Uvod</a:t>
            </a:r>
            <a:endParaRPr dirty="0"/>
          </a:p>
        </p:txBody>
      </p:sp>
      <p:sp>
        <p:nvSpPr>
          <p:cNvPr id="520" name="Google Shape;520;p43"/>
          <p:cNvSpPr txBox="1">
            <a:spLocks noGrp="1"/>
          </p:cNvSpPr>
          <p:nvPr>
            <p:ph type="subTitle" idx="1"/>
          </p:nvPr>
        </p:nvSpPr>
        <p:spPr>
          <a:xfrm>
            <a:off x="2683726" y="191172"/>
            <a:ext cx="5241074" cy="43436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sr-Latn-ME" sz="2000" dirty="0">
                <a:solidFill>
                  <a:schemeClr val="tx1"/>
                </a:solidFill>
                <a:latin typeface="Voltaire" panose="020B0604020202020204" charset="0"/>
              </a:rPr>
              <a:t>Dva aspekta sa kojih se može posmatrati projektovanje baze – </a:t>
            </a:r>
            <a:r>
              <a:rPr lang="sr-Latn-ME" sz="2000" b="1" dirty="0">
                <a:solidFill>
                  <a:schemeClr val="accent5">
                    <a:lumMod val="75000"/>
                  </a:schemeClr>
                </a:solidFill>
                <a:latin typeface="Voltaire" panose="020B0604020202020204" charset="0"/>
              </a:rPr>
              <a:t>logičko modelovanje</a:t>
            </a:r>
            <a:r>
              <a:rPr lang="sr-Latn-ME" sz="2000" b="1" dirty="0">
                <a:solidFill>
                  <a:schemeClr val="tx1"/>
                </a:solidFill>
                <a:latin typeface="Voltaire" panose="020B0604020202020204" charset="0"/>
              </a:rPr>
              <a:t> </a:t>
            </a:r>
            <a:r>
              <a:rPr lang="sr-Latn-ME" sz="2000" dirty="0">
                <a:solidFill>
                  <a:schemeClr val="tx1"/>
                </a:solidFill>
                <a:latin typeface="Voltaire" panose="020B0604020202020204" charset="0"/>
              </a:rPr>
              <a:t>i </a:t>
            </a:r>
            <a:r>
              <a:rPr lang="sr-Latn-ME" sz="2000" b="1" dirty="0">
                <a:solidFill>
                  <a:schemeClr val="accent5">
                    <a:lumMod val="75000"/>
                  </a:schemeClr>
                </a:solidFill>
                <a:latin typeface="Voltaire" panose="020B0604020202020204" charset="0"/>
              </a:rPr>
              <a:t>fizička implementacija</a:t>
            </a:r>
            <a:r>
              <a:rPr lang="sr-Latn-ME" sz="2000" b="1" dirty="0">
                <a:solidFill>
                  <a:schemeClr val="tx1"/>
                </a:solidFill>
                <a:latin typeface="Voltaire" panose="020B0604020202020204" charset="0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sr-Latn-ME" sz="2000" dirty="0">
                <a:solidFill>
                  <a:schemeClr val="tx1"/>
                </a:solidFill>
                <a:latin typeface="Voltaire" panose="020B0604020202020204" charset="0"/>
              </a:rPr>
              <a:t>Logičko modelovanje obuhvata </a:t>
            </a:r>
            <a:r>
              <a:rPr lang="sr-Latn-ME" sz="2000" dirty="0" err="1">
                <a:solidFill>
                  <a:schemeClr val="tx1"/>
                </a:solidFill>
                <a:latin typeface="Voltaire" panose="020B0604020202020204" charset="0"/>
              </a:rPr>
              <a:t>zahteva</a:t>
            </a:r>
            <a:r>
              <a:rPr lang="sr-Latn-ME" sz="2000" dirty="0">
                <a:solidFill>
                  <a:schemeClr val="tx1"/>
                </a:solidFill>
                <a:latin typeface="Voltaire" panose="020B0604020202020204" charset="0"/>
              </a:rPr>
              <a:t> prikupljanje poslovnih </a:t>
            </a:r>
            <a:r>
              <a:rPr lang="sr-Latn-ME" sz="2000" dirty="0" err="1">
                <a:solidFill>
                  <a:schemeClr val="tx1"/>
                </a:solidFill>
                <a:latin typeface="Voltaire" panose="020B0604020202020204" charset="0"/>
              </a:rPr>
              <a:t>zahteva</a:t>
            </a:r>
            <a:r>
              <a:rPr lang="sr-Latn-ME" sz="2000" dirty="0">
                <a:solidFill>
                  <a:schemeClr val="tx1"/>
                </a:solidFill>
                <a:latin typeface="Voltaire" panose="020B0604020202020204" charset="0"/>
              </a:rPr>
              <a:t>, </a:t>
            </a:r>
            <a:r>
              <a:rPr lang="sr-Latn-ME" sz="2000" dirty="0" err="1">
                <a:solidFill>
                  <a:schemeClr val="tx1"/>
                </a:solidFill>
                <a:latin typeface="Voltaire" panose="020B0604020202020204" charset="0"/>
              </a:rPr>
              <a:t>razumevanje</a:t>
            </a:r>
            <a:r>
              <a:rPr lang="sr-Latn-ME" sz="2000" dirty="0">
                <a:solidFill>
                  <a:schemeClr val="tx1"/>
                </a:solidFill>
                <a:latin typeface="Voltaire" panose="020B0604020202020204" charset="0"/>
              </a:rPr>
              <a:t> podataka i </a:t>
            </a:r>
            <a:r>
              <a:rPr lang="sr-Latn-ME" sz="2000" dirty="0" err="1">
                <a:solidFill>
                  <a:schemeClr val="tx1"/>
                </a:solidFill>
                <a:latin typeface="Voltaire" panose="020B0604020202020204" charset="0"/>
              </a:rPr>
              <a:t>razumevanje</a:t>
            </a:r>
            <a:r>
              <a:rPr lang="sr-Latn-ME" sz="2000" dirty="0">
                <a:solidFill>
                  <a:schemeClr val="tx1"/>
                </a:solidFill>
                <a:latin typeface="Voltaire" panose="020B0604020202020204" charset="0"/>
              </a:rPr>
              <a:t> načina na koji se koriste.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r-Latn-ME" sz="2000" dirty="0">
                <a:solidFill>
                  <a:schemeClr val="tx1"/>
                </a:solidFill>
                <a:latin typeface="Voltaire" panose="020B0604020202020204" charset="0"/>
              </a:rPr>
              <a:t>Fizičko modelovanje </a:t>
            </a:r>
            <a:r>
              <a:rPr lang="sr-Latn-ME" sz="2000" dirty="0" err="1">
                <a:solidFill>
                  <a:schemeClr val="tx1"/>
                </a:solidFill>
                <a:latin typeface="Voltaire" panose="020B0604020202020204" charset="0"/>
              </a:rPr>
              <a:t>zahteva</a:t>
            </a:r>
            <a:r>
              <a:rPr lang="sr-Latn-ME" sz="2000" dirty="0">
                <a:solidFill>
                  <a:schemeClr val="tx1"/>
                </a:solidFill>
                <a:latin typeface="Voltaire" panose="020B0604020202020204" charset="0"/>
              </a:rPr>
              <a:t> poznavanje platforme (DBMS-a) koji se koristi i iskorišćavanje njenih funkcionalnosti i </a:t>
            </a:r>
            <a:r>
              <a:rPr lang="sr-Latn-ME" sz="2000" dirty="0" err="1">
                <a:solidFill>
                  <a:schemeClr val="tx1"/>
                </a:solidFill>
                <a:latin typeface="Voltaire" panose="020B0604020202020204" charset="0"/>
              </a:rPr>
              <a:t>prednosti</a:t>
            </a:r>
            <a:r>
              <a:rPr lang="sr-Latn-ME" sz="2000" dirty="0">
                <a:solidFill>
                  <a:schemeClr val="tx1"/>
                </a:solidFill>
                <a:latin typeface="Voltaire" panose="020B0604020202020204" charset="0"/>
              </a:rPr>
              <a:t> u odnosu na druge platforme.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2000" dirty="0">
              <a:solidFill>
                <a:schemeClr val="tx1"/>
              </a:solidFill>
              <a:latin typeface="Voltaire" panose="020B0604020202020204" charset="0"/>
            </a:endParaRPr>
          </a:p>
        </p:txBody>
      </p:sp>
      <p:grpSp>
        <p:nvGrpSpPr>
          <p:cNvPr id="521" name="Google Shape;521;p43"/>
          <p:cNvGrpSpPr/>
          <p:nvPr/>
        </p:nvGrpSpPr>
        <p:grpSpPr>
          <a:xfrm>
            <a:off x="713495" y="2758618"/>
            <a:ext cx="885350" cy="189600"/>
            <a:chOff x="5477200" y="3278121"/>
            <a:chExt cx="885350" cy="189600"/>
          </a:xfrm>
        </p:grpSpPr>
        <p:sp>
          <p:nvSpPr>
            <p:cNvPr id="522" name="Google Shape;522;p43"/>
            <p:cNvSpPr/>
            <p:nvPr/>
          </p:nvSpPr>
          <p:spPr>
            <a:xfrm>
              <a:off x="6172950" y="3278121"/>
              <a:ext cx="189600" cy="18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43"/>
            <p:cNvSpPr/>
            <p:nvPr/>
          </p:nvSpPr>
          <p:spPr>
            <a:xfrm>
              <a:off x="5825075" y="3278121"/>
              <a:ext cx="189600" cy="18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43"/>
            <p:cNvSpPr/>
            <p:nvPr/>
          </p:nvSpPr>
          <p:spPr>
            <a:xfrm>
              <a:off x="5477200" y="3278121"/>
              <a:ext cx="189600" cy="189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4"/>
          <p:cNvSpPr/>
          <p:nvPr/>
        </p:nvSpPr>
        <p:spPr>
          <a:xfrm>
            <a:off x="2153213" y="1483125"/>
            <a:ext cx="616200" cy="616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4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dirty="0"/>
              <a:t>02.01 SQL Server fajl sistem</a:t>
            </a:r>
            <a:endParaRPr dirty="0"/>
          </a:p>
        </p:txBody>
      </p:sp>
      <p:sp>
        <p:nvSpPr>
          <p:cNvPr id="616" name="Google Shape;616;p44"/>
          <p:cNvSpPr txBox="1">
            <a:spLocks noGrp="1"/>
          </p:cNvSpPr>
          <p:nvPr>
            <p:ph type="title" idx="2"/>
          </p:nvPr>
        </p:nvSpPr>
        <p:spPr>
          <a:xfrm>
            <a:off x="1028676" y="2150925"/>
            <a:ext cx="2865300" cy="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ME" dirty="0"/>
              <a:t>Data File</a:t>
            </a:r>
            <a:endParaRPr dirty="0"/>
          </a:p>
        </p:txBody>
      </p:sp>
      <p:sp>
        <p:nvSpPr>
          <p:cNvPr id="617" name="Google Shape;617;p44"/>
          <p:cNvSpPr txBox="1">
            <a:spLocks noGrp="1"/>
          </p:cNvSpPr>
          <p:nvPr>
            <p:ph type="title" idx="3"/>
          </p:nvPr>
        </p:nvSpPr>
        <p:spPr>
          <a:xfrm>
            <a:off x="4941951" y="2202525"/>
            <a:ext cx="2865300" cy="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ME" dirty="0"/>
              <a:t>Log File</a:t>
            </a:r>
            <a:endParaRPr dirty="0"/>
          </a:p>
        </p:txBody>
      </p:sp>
      <p:sp>
        <p:nvSpPr>
          <p:cNvPr id="626" name="Google Shape;626;p44"/>
          <p:cNvSpPr/>
          <p:nvPr/>
        </p:nvSpPr>
        <p:spPr>
          <a:xfrm>
            <a:off x="6066489" y="1534725"/>
            <a:ext cx="616200" cy="616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44"/>
          <p:cNvSpPr txBox="1">
            <a:spLocks noGrp="1"/>
          </p:cNvSpPr>
          <p:nvPr>
            <p:ph type="subTitle" idx="1"/>
          </p:nvPr>
        </p:nvSpPr>
        <p:spPr>
          <a:xfrm>
            <a:off x="1028675" y="2642924"/>
            <a:ext cx="2963110" cy="18776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sr-Latn-ME" dirty="0"/>
              <a:t>Sadrži podatke i objekte poput tabela, indeksa, procedura i poslova (</a:t>
            </a:r>
            <a:r>
              <a:rPr lang="sr-Latn-ME" i="1" dirty="0" err="1"/>
              <a:t>jobs</a:t>
            </a:r>
            <a:r>
              <a:rPr lang="sr-Latn-ME" i="1" dirty="0"/>
              <a:t>)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sr-Latn-ME" dirty="0"/>
              <a:t>Mogu da budu grupisani u grupe fajlova </a:t>
            </a:r>
            <a:r>
              <a:rPr lang="sr-Latn-ME" i="1" dirty="0"/>
              <a:t>(</a:t>
            </a:r>
            <a:r>
              <a:rPr lang="sr-Latn-ME" i="1" dirty="0" err="1"/>
              <a:t>Filegroup</a:t>
            </a:r>
            <a:r>
              <a:rPr lang="sr-Latn-ME" i="1" dirty="0"/>
              <a:t>)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sr-Latn-ME" dirty="0"/>
              <a:t>Postoje primarni (.</a:t>
            </a:r>
            <a:r>
              <a:rPr lang="sr-Latn-ME" dirty="0" err="1"/>
              <a:t>mdf</a:t>
            </a:r>
            <a:r>
              <a:rPr lang="sr-Latn-ME" dirty="0"/>
              <a:t>) i sekundarni (.</a:t>
            </a:r>
            <a:r>
              <a:rPr lang="sr-Latn-ME" dirty="0" err="1"/>
              <a:t>ndf</a:t>
            </a:r>
            <a:r>
              <a:rPr lang="sr-Latn-ME" dirty="0"/>
              <a:t>) data fajlovi</a:t>
            </a:r>
            <a:endParaRPr dirty="0"/>
          </a:p>
        </p:txBody>
      </p:sp>
      <p:sp>
        <p:nvSpPr>
          <p:cNvPr id="631" name="Google Shape;631;p44"/>
          <p:cNvSpPr txBox="1">
            <a:spLocks noGrp="1"/>
          </p:cNvSpPr>
          <p:nvPr>
            <p:ph type="subTitle" idx="4"/>
          </p:nvPr>
        </p:nvSpPr>
        <p:spPr>
          <a:xfrm>
            <a:off x="4941951" y="2694525"/>
            <a:ext cx="2865300" cy="11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sr-Latn-ME" dirty="0"/>
              <a:t>Sadrže informacije neophodne za oporavak svih transakcija baze podataka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sr-Latn-ME" dirty="0"/>
              <a:t>Mora da postoji makar jedan ovakav fajl za svaku bazu podataka (.</a:t>
            </a:r>
            <a:r>
              <a:rPr lang="sr-Latn-ME" dirty="0" err="1"/>
              <a:t>ldf</a:t>
            </a:r>
            <a:r>
              <a:rPr lang="sr-Latn-ME" dirty="0"/>
              <a:t>)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dirty="0"/>
              <a:t>02.01 SQL Server fajl sistem</a:t>
            </a:r>
            <a:endParaRPr dirty="0"/>
          </a:p>
        </p:txBody>
      </p:sp>
      <p:sp>
        <p:nvSpPr>
          <p:cNvPr id="18" name="Google Shape;520;p43">
            <a:extLst>
              <a:ext uri="{FF2B5EF4-FFF2-40B4-BE49-F238E27FC236}">
                <a16:creationId xmlns:a16="http://schemas.microsoft.com/office/drawing/2014/main" id="{8D675DE1-9F46-4F26-A700-A6D0F4ADD275}"/>
              </a:ext>
            </a:extLst>
          </p:cNvPr>
          <p:cNvSpPr txBox="1">
            <a:spLocks/>
          </p:cNvSpPr>
          <p:nvPr/>
        </p:nvSpPr>
        <p:spPr>
          <a:xfrm>
            <a:off x="778025" y="1524600"/>
            <a:ext cx="2951356" cy="572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285750" indent="-28575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ME" dirty="0">
                <a:solidFill>
                  <a:schemeClr val="tx1"/>
                </a:solidFill>
                <a:latin typeface="Voltaire" panose="020B0604020202020204" charset="0"/>
              </a:rPr>
              <a:t>Data i log fajlovi mogu biti </a:t>
            </a:r>
            <a:r>
              <a:rPr lang="sr-Latn-ME" dirty="0" err="1">
                <a:solidFill>
                  <a:schemeClr val="tx1"/>
                </a:solidFill>
                <a:latin typeface="Voltaire" panose="020B0604020202020204" charset="0"/>
              </a:rPr>
              <a:t>smešteni</a:t>
            </a:r>
            <a:r>
              <a:rPr lang="sr-Latn-ME" dirty="0">
                <a:solidFill>
                  <a:schemeClr val="tx1"/>
                </a:solidFill>
                <a:latin typeface="Voltaire" panose="020B0604020202020204" charset="0"/>
              </a:rPr>
              <a:t> na istom ili na različitim diskovima.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AFA0030-092B-41A4-82FD-DC640AA4CB8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30304" y="3628800"/>
            <a:ext cx="7060385" cy="1207808"/>
          </a:xfrm>
          <a:prstGeom prst="rect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6587E40-04D0-4BD7-B6AB-03ABA9EF35D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455009" y="1202993"/>
            <a:ext cx="3535680" cy="2086610"/>
          </a:xfrm>
          <a:prstGeom prst="rect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</p:pic>
      <p:sp>
        <p:nvSpPr>
          <p:cNvPr id="6" name="Google Shape;520;p43">
            <a:extLst>
              <a:ext uri="{FF2B5EF4-FFF2-40B4-BE49-F238E27FC236}">
                <a16:creationId xmlns:a16="http://schemas.microsoft.com/office/drawing/2014/main" id="{4AEEC770-902D-421F-939C-F84C05522B98}"/>
              </a:ext>
            </a:extLst>
          </p:cNvPr>
          <p:cNvSpPr txBox="1">
            <a:spLocks/>
          </p:cNvSpPr>
          <p:nvPr/>
        </p:nvSpPr>
        <p:spPr>
          <a:xfrm>
            <a:off x="4730374" y="3191824"/>
            <a:ext cx="3909625" cy="377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0" indent="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</a:pPr>
            <a:r>
              <a:rPr lang="sr-Latn-ME" sz="1100" dirty="0">
                <a:solidFill>
                  <a:schemeClr val="tx1"/>
                </a:solidFill>
                <a:latin typeface="Voltaire" panose="020B0604020202020204" charset="0"/>
              </a:rPr>
              <a:t>Slika 1, </a:t>
            </a:r>
            <a:r>
              <a:rPr lang="sr-Latn-ME" sz="1100" dirty="0" err="1">
                <a:solidFill>
                  <a:schemeClr val="tx1"/>
                </a:solidFill>
                <a:latin typeface="Voltaire" panose="020B0604020202020204" charset="0"/>
              </a:rPr>
              <a:t>Smeštanje</a:t>
            </a:r>
            <a:r>
              <a:rPr lang="sr-Latn-ME" sz="1100" dirty="0">
                <a:solidFill>
                  <a:schemeClr val="tx1"/>
                </a:solidFill>
                <a:latin typeface="Voltaire" panose="020B0604020202020204" charset="0"/>
              </a:rPr>
              <a:t> data i log fajlova na različite diskove</a:t>
            </a:r>
          </a:p>
        </p:txBody>
      </p:sp>
      <p:sp>
        <p:nvSpPr>
          <p:cNvPr id="7" name="Google Shape;520;p43">
            <a:extLst>
              <a:ext uri="{FF2B5EF4-FFF2-40B4-BE49-F238E27FC236}">
                <a16:creationId xmlns:a16="http://schemas.microsoft.com/office/drawing/2014/main" id="{A0BA5439-5315-4496-9ECF-7646A65913A3}"/>
              </a:ext>
            </a:extLst>
          </p:cNvPr>
          <p:cNvSpPr txBox="1">
            <a:spLocks/>
          </p:cNvSpPr>
          <p:nvPr/>
        </p:nvSpPr>
        <p:spPr>
          <a:xfrm>
            <a:off x="3010774" y="4763625"/>
            <a:ext cx="3909625" cy="377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0" indent="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</a:pPr>
            <a:r>
              <a:rPr lang="sr-Latn-ME" sz="1100" dirty="0">
                <a:solidFill>
                  <a:schemeClr val="tx1"/>
                </a:solidFill>
                <a:latin typeface="Voltaire" panose="020B0604020202020204" charset="0"/>
              </a:rPr>
              <a:t>Slika 2, </a:t>
            </a:r>
            <a:r>
              <a:rPr lang="sr-Latn-ME" sz="1100" dirty="0" err="1">
                <a:solidFill>
                  <a:schemeClr val="tx1"/>
                </a:solidFill>
                <a:latin typeface="Voltaire" panose="020B0604020202020204" charset="0"/>
              </a:rPr>
              <a:t>Smeštanje</a:t>
            </a:r>
            <a:r>
              <a:rPr lang="sr-Latn-ME" sz="1100" dirty="0">
                <a:solidFill>
                  <a:schemeClr val="tx1"/>
                </a:solidFill>
                <a:latin typeface="Voltaire" panose="020B0604020202020204" charset="0"/>
              </a:rPr>
              <a:t> data i log fajlova na isti disk</a:t>
            </a:r>
          </a:p>
        </p:txBody>
      </p:sp>
    </p:spTree>
    <p:extLst>
      <p:ext uri="{BB962C8B-B14F-4D97-AF65-F5344CB8AC3E}">
        <p14:creationId xmlns:p14="http://schemas.microsoft.com/office/powerpoint/2010/main" val="1029140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ACC2E26-15AA-4147-8D98-D707EA5F9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360" y="2015512"/>
            <a:ext cx="9152360" cy="2586937"/>
          </a:xfrm>
          <a:prstGeom prst="rect">
            <a:avLst/>
          </a:prstGeom>
        </p:spPr>
      </p:pic>
      <p:sp>
        <p:nvSpPr>
          <p:cNvPr id="9" name="Google Shape;520;p43">
            <a:extLst>
              <a:ext uri="{FF2B5EF4-FFF2-40B4-BE49-F238E27FC236}">
                <a16:creationId xmlns:a16="http://schemas.microsoft.com/office/drawing/2014/main" id="{0732AB48-51C4-42EA-94FD-B497D8799FA1}"/>
              </a:ext>
            </a:extLst>
          </p:cNvPr>
          <p:cNvSpPr txBox="1">
            <a:spLocks/>
          </p:cNvSpPr>
          <p:nvPr/>
        </p:nvSpPr>
        <p:spPr>
          <a:xfrm>
            <a:off x="446824" y="1170597"/>
            <a:ext cx="5464375" cy="572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285750" indent="-28575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ME" dirty="0">
                <a:solidFill>
                  <a:schemeClr val="tx1"/>
                </a:solidFill>
                <a:latin typeface="Voltaire" panose="020B0604020202020204" charset="0"/>
              </a:rPr>
              <a:t>SQL Server Management Studio – </a:t>
            </a:r>
            <a:r>
              <a:rPr lang="sr-Latn-ME" dirty="0" err="1">
                <a:solidFill>
                  <a:schemeClr val="tx1"/>
                </a:solidFill>
                <a:latin typeface="Voltaire" panose="020B0604020202020204" charset="0"/>
              </a:rPr>
              <a:t>pregled</a:t>
            </a:r>
            <a:r>
              <a:rPr lang="sr-Latn-ME" dirty="0">
                <a:solidFill>
                  <a:schemeClr val="tx1"/>
                </a:solidFill>
                <a:latin typeface="Voltaire" panose="020B0604020202020204" charset="0"/>
              </a:rPr>
              <a:t> fajlova baze podataka</a:t>
            </a:r>
          </a:p>
        </p:txBody>
      </p:sp>
      <p:sp>
        <p:nvSpPr>
          <p:cNvPr id="10" name="Google Shape;615;p44">
            <a:extLst>
              <a:ext uri="{FF2B5EF4-FFF2-40B4-BE49-F238E27FC236}">
                <a16:creationId xmlns:a16="http://schemas.microsoft.com/office/drawing/2014/main" id="{CAA40535-46E0-42CB-B10B-4363B1817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425" y="325683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dirty="0"/>
              <a:t>02.01 SQL Server fajl sistem</a:t>
            </a:r>
            <a:endParaRPr dirty="0"/>
          </a:p>
        </p:txBody>
      </p:sp>
      <p:sp>
        <p:nvSpPr>
          <p:cNvPr id="5" name="Google Shape;520;p43">
            <a:extLst>
              <a:ext uri="{FF2B5EF4-FFF2-40B4-BE49-F238E27FC236}">
                <a16:creationId xmlns:a16="http://schemas.microsoft.com/office/drawing/2014/main" id="{8D88C3D5-1D77-4EFB-9765-588BD5FB7004}"/>
              </a:ext>
            </a:extLst>
          </p:cNvPr>
          <p:cNvSpPr txBox="1">
            <a:spLocks/>
          </p:cNvSpPr>
          <p:nvPr/>
        </p:nvSpPr>
        <p:spPr>
          <a:xfrm>
            <a:off x="3556774" y="4497520"/>
            <a:ext cx="3909625" cy="377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0" indent="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</a:pPr>
            <a:r>
              <a:rPr lang="sr-Latn-ME" sz="1100" dirty="0">
                <a:solidFill>
                  <a:schemeClr val="tx1"/>
                </a:solidFill>
                <a:latin typeface="Voltaire" panose="020B0604020202020204" charset="0"/>
              </a:rPr>
              <a:t>Slika 3, </a:t>
            </a:r>
            <a:r>
              <a:rPr lang="sr-Latn-ME" sz="1100" dirty="0" err="1">
                <a:solidFill>
                  <a:schemeClr val="tx1"/>
                </a:solidFill>
                <a:latin typeface="Voltaire" panose="020B0604020202020204" charset="0"/>
              </a:rPr>
              <a:t>Pregled</a:t>
            </a:r>
            <a:r>
              <a:rPr lang="sr-Latn-ME" sz="1100" dirty="0">
                <a:solidFill>
                  <a:schemeClr val="tx1"/>
                </a:solidFill>
                <a:latin typeface="Voltaire" panose="020B0604020202020204" charset="0"/>
              </a:rPr>
              <a:t> fajlova u SSMS-u</a:t>
            </a:r>
          </a:p>
        </p:txBody>
      </p:sp>
    </p:spTree>
    <p:extLst>
      <p:ext uri="{BB962C8B-B14F-4D97-AF65-F5344CB8AC3E}">
        <p14:creationId xmlns:p14="http://schemas.microsoft.com/office/powerpoint/2010/main" val="2695814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20;p43">
            <a:extLst>
              <a:ext uri="{FF2B5EF4-FFF2-40B4-BE49-F238E27FC236}">
                <a16:creationId xmlns:a16="http://schemas.microsoft.com/office/drawing/2014/main" id="{0732AB48-51C4-42EA-94FD-B497D8799FA1}"/>
              </a:ext>
            </a:extLst>
          </p:cNvPr>
          <p:cNvSpPr txBox="1">
            <a:spLocks/>
          </p:cNvSpPr>
          <p:nvPr/>
        </p:nvSpPr>
        <p:spPr>
          <a:xfrm>
            <a:off x="565387" y="1228197"/>
            <a:ext cx="7811575" cy="3473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285750" indent="-28575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ME" sz="1800" dirty="0">
                <a:solidFill>
                  <a:schemeClr val="tx1"/>
                </a:solidFill>
                <a:latin typeface="Voltaire" panose="020B0604020202020204" charset="0"/>
              </a:rPr>
              <a:t>Prostor na disku alociran za data fajl je logički </a:t>
            </a:r>
            <a:r>
              <a:rPr lang="sr-Latn-ME" sz="1800" dirty="0" err="1">
                <a:solidFill>
                  <a:schemeClr val="tx1"/>
                </a:solidFill>
                <a:latin typeface="Voltaire" panose="020B0604020202020204" charset="0"/>
              </a:rPr>
              <a:t>podeljen</a:t>
            </a:r>
            <a:r>
              <a:rPr lang="sr-Latn-ME" sz="1800" dirty="0">
                <a:solidFill>
                  <a:schemeClr val="tx1"/>
                </a:solidFill>
                <a:latin typeface="Voltaire" panose="020B0604020202020204" charset="0"/>
              </a:rPr>
              <a:t> na stranice, numerisane od 1 do n.</a:t>
            </a:r>
          </a:p>
          <a:p>
            <a:pPr marL="285750" indent="-28575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ME" sz="1800" i="1" dirty="0" err="1">
                <a:solidFill>
                  <a:schemeClr val="accent5">
                    <a:lumMod val="75000"/>
                  </a:schemeClr>
                </a:solidFill>
                <a:latin typeface="Voltaire" panose="020B0604020202020204" charset="0"/>
              </a:rPr>
              <a:t>Page</a:t>
            </a:r>
            <a:r>
              <a:rPr lang="sr-Latn-ME" sz="1800" i="1" dirty="0">
                <a:solidFill>
                  <a:schemeClr val="tx1"/>
                </a:solidFill>
                <a:latin typeface="Voltaire" panose="020B0604020202020204" charset="0"/>
              </a:rPr>
              <a:t>  </a:t>
            </a:r>
            <a:r>
              <a:rPr lang="sr-Latn-ME" sz="1800" dirty="0">
                <a:solidFill>
                  <a:schemeClr val="tx1"/>
                </a:solidFill>
                <a:latin typeface="Voltaire" panose="020B0604020202020204" charset="0"/>
              </a:rPr>
              <a:t>(stranica)</a:t>
            </a:r>
            <a:r>
              <a:rPr lang="sr-Latn-ME" sz="1800" i="1" dirty="0">
                <a:solidFill>
                  <a:schemeClr val="tx1"/>
                </a:solidFill>
                <a:latin typeface="Voltaire" panose="020B0604020202020204" charset="0"/>
              </a:rPr>
              <a:t> </a:t>
            </a:r>
            <a:r>
              <a:rPr lang="sr-Latn-ME" sz="1800" dirty="0">
                <a:solidFill>
                  <a:schemeClr val="tx1"/>
                </a:solidFill>
                <a:latin typeface="Voltaire" panose="020B0604020202020204" charset="0"/>
              </a:rPr>
              <a:t> je osnovna jedinica za skladištenje podataka u SQL Server-u i ima kapacitet od 8060 bajtova za podatke.</a:t>
            </a:r>
          </a:p>
          <a:p>
            <a:pPr marL="285750" indent="-28575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ME" sz="1800" i="1" dirty="0" err="1">
                <a:solidFill>
                  <a:schemeClr val="accent5">
                    <a:lumMod val="75000"/>
                  </a:schemeClr>
                </a:solidFill>
                <a:latin typeface="Voltaire" panose="020B0604020202020204" charset="0"/>
              </a:rPr>
              <a:t>Extent</a:t>
            </a:r>
            <a:r>
              <a:rPr lang="sr-Latn-ME" sz="1800" i="1" dirty="0">
                <a:solidFill>
                  <a:schemeClr val="tx1"/>
                </a:solidFill>
                <a:latin typeface="Voltaire" panose="020B0604020202020204" charset="0"/>
              </a:rPr>
              <a:t>  </a:t>
            </a:r>
            <a:r>
              <a:rPr lang="sr-Latn-ME" sz="1800" dirty="0">
                <a:solidFill>
                  <a:schemeClr val="tx1"/>
                </a:solidFill>
                <a:latin typeface="Voltaire" panose="020B0604020202020204" charset="0"/>
              </a:rPr>
              <a:t>je skup od 8 fizički </a:t>
            </a:r>
            <a:r>
              <a:rPr lang="sr-Latn-ME" sz="1800" dirty="0" err="1">
                <a:solidFill>
                  <a:schemeClr val="tx1"/>
                </a:solidFill>
                <a:latin typeface="Voltaire" panose="020B0604020202020204" charset="0"/>
              </a:rPr>
              <a:t>susednih</a:t>
            </a:r>
            <a:r>
              <a:rPr lang="sr-Latn-ME" sz="1800" dirty="0">
                <a:solidFill>
                  <a:schemeClr val="tx1"/>
                </a:solidFill>
                <a:latin typeface="Voltaire" panose="020B0604020202020204" charset="0"/>
              </a:rPr>
              <a:t> stranica. </a:t>
            </a:r>
          </a:p>
          <a:p>
            <a:pPr marL="285750" indent="-28575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ME" sz="1800" i="1" dirty="0" err="1">
                <a:solidFill>
                  <a:schemeClr val="accent5">
                    <a:lumMod val="75000"/>
                  </a:schemeClr>
                </a:solidFill>
                <a:latin typeface="Voltaire" panose="020B0604020202020204" charset="0"/>
              </a:rPr>
              <a:t>Row</a:t>
            </a:r>
            <a:r>
              <a:rPr lang="sr-Latn-ME" sz="1800" i="1" dirty="0">
                <a:solidFill>
                  <a:schemeClr val="tx1"/>
                </a:solidFill>
                <a:latin typeface="Voltaire" panose="020B0604020202020204" charset="0"/>
              </a:rPr>
              <a:t>  </a:t>
            </a:r>
            <a:r>
              <a:rPr lang="sr-Latn-ME" sz="1800" dirty="0">
                <a:solidFill>
                  <a:schemeClr val="tx1"/>
                </a:solidFill>
                <a:latin typeface="Voltaire" panose="020B0604020202020204" charset="0"/>
              </a:rPr>
              <a:t>(zapis) može da bude sačuvan na jednoj ili više stranica i to u različitim strukturama u zavisnosti od podataka koje sadrži.</a:t>
            </a:r>
          </a:p>
          <a:p>
            <a:pPr marL="285750" indent="-28575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endParaRPr lang="sr-Latn-ME" dirty="0">
              <a:solidFill>
                <a:schemeClr val="tx1"/>
              </a:solidFill>
              <a:latin typeface="Voltaire" panose="020B0604020202020204" charset="0"/>
            </a:endParaRPr>
          </a:p>
        </p:txBody>
      </p:sp>
      <p:sp>
        <p:nvSpPr>
          <p:cNvPr id="10" name="Google Shape;615;p44">
            <a:extLst>
              <a:ext uri="{FF2B5EF4-FFF2-40B4-BE49-F238E27FC236}">
                <a16:creationId xmlns:a16="http://schemas.microsoft.com/office/drawing/2014/main" id="{CAA40535-46E0-42CB-B10B-4363B1817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425" y="325683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dirty="0"/>
              <a:t>02.01 Skladištenje podataka – </a:t>
            </a:r>
            <a:r>
              <a:rPr lang="sr-Latn-ME" i="1" dirty="0" err="1"/>
              <a:t>Row</a:t>
            </a:r>
            <a:r>
              <a:rPr lang="sr-Latn-ME" i="1" dirty="0"/>
              <a:t>, </a:t>
            </a:r>
            <a:r>
              <a:rPr lang="sr-Latn-ME" i="1" dirty="0" err="1"/>
              <a:t>Page</a:t>
            </a:r>
            <a:r>
              <a:rPr lang="sr-Latn-ME" i="1" dirty="0"/>
              <a:t>, </a:t>
            </a:r>
            <a:r>
              <a:rPr lang="sr-Latn-ME" i="1" dirty="0" err="1"/>
              <a:t>Extent</a:t>
            </a:r>
            <a:endParaRPr i="1" dirty="0"/>
          </a:p>
        </p:txBody>
      </p:sp>
    </p:spTree>
    <p:extLst>
      <p:ext uri="{BB962C8B-B14F-4D97-AF65-F5344CB8AC3E}">
        <p14:creationId xmlns:p14="http://schemas.microsoft.com/office/powerpoint/2010/main" val="529522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20;p43">
            <a:extLst>
              <a:ext uri="{FF2B5EF4-FFF2-40B4-BE49-F238E27FC236}">
                <a16:creationId xmlns:a16="http://schemas.microsoft.com/office/drawing/2014/main" id="{0732AB48-51C4-42EA-94FD-B497D8799FA1}"/>
              </a:ext>
            </a:extLst>
          </p:cNvPr>
          <p:cNvSpPr txBox="1">
            <a:spLocks/>
          </p:cNvSpPr>
          <p:nvPr/>
        </p:nvSpPr>
        <p:spPr>
          <a:xfrm>
            <a:off x="518350" y="997797"/>
            <a:ext cx="7811575" cy="3473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285750" indent="-28575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ME" sz="1800" dirty="0">
                <a:solidFill>
                  <a:schemeClr val="accent5">
                    <a:lumMod val="75000"/>
                  </a:schemeClr>
                </a:solidFill>
                <a:latin typeface="Voltaire" panose="020B0604020202020204" charset="0"/>
              </a:rPr>
              <a:t>IN_ROW_DATA </a:t>
            </a:r>
            <a:r>
              <a:rPr lang="sr-Latn-ME" sz="1800" dirty="0">
                <a:solidFill>
                  <a:schemeClr val="tx1"/>
                </a:solidFill>
                <a:latin typeface="Voltaire" panose="020B0604020202020204" charset="0"/>
              </a:rPr>
              <a:t>– struktura koja čuva podatke koji ne prevazilaze 8060 bajtova (jedna stranica). Svaki zapis ima neki svoj </a:t>
            </a:r>
            <a:r>
              <a:rPr lang="sr-Latn-ME" sz="1800" dirty="0" err="1">
                <a:solidFill>
                  <a:schemeClr val="tx1"/>
                </a:solidFill>
                <a:latin typeface="Voltaire" panose="020B0604020202020204" charset="0"/>
              </a:rPr>
              <a:t>deo</a:t>
            </a:r>
            <a:r>
              <a:rPr lang="sr-Latn-ME" sz="1800" dirty="0">
                <a:solidFill>
                  <a:schemeClr val="tx1"/>
                </a:solidFill>
                <a:latin typeface="Voltaire" panose="020B0604020202020204" charset="0"/>
              </a:rPr>
              <a:t> sačuvan u ovoj strukturi. Kolone fiksne dužine su </a:t>
            </a:r>
            <a:r>
              <a:rPr lang="sr-Latn-ME" sz="1800" dirty="0" err="1">
                <a:solidFill>
                  <a:schemeClr val="tx1"/>
                </a:solidFill>
                <a:latin typeface="Voltaire" panose="020B0604020202020204" charset="0"/>
              </a:rPr>
              <a:t>uvek</a:t>
            </a:r>
            <a:r>
              <a:rPr lang="sr-Latn-ME" sz="1800" dirty="0">
                <a:solidFill>
                  <a:schemeClr val="tx1"/>
                </a:solidFill>
                <a:latin typeface="Voltaire" panose="020B0604020202020204" charset="0"/>
              </a:rPr>
              <a:t> sačuvane u ovoj </a:t>
            </a:r>
            <a:r>
              <a:rPr lang="sr-Latn-ME" sz="1800" dirty="0" err="1">
                <a:solidFill>
                  <a:schemeClr val="tx1"/>
                </a:solidFill>
                <a:latin typeface="Voltaire" panose="020B0604020202020204" charset="0"/>
              </a:rPr>
              <a:t>strukturi.Ukoliko</a:t>
            </a:r>
            <a:r>
              <a:rPr lang="sr-Latn-ME" sz="1800" dirty="0">
                <a:solidFill>
                  <a:schemeClr val="tx1"/>
                </a:solidFill>
                <a:latin typeface="Voltaire" panose="020B0604020202020204" charset="0"/>
              </a:rPr>
              <a:t> podaci pređu 8K, </a:t>
            </a:r>
            <a:r>
              <a:rPr lang="sr-Latn-ME" sz="1800" dirty="0" err="1">
                <a:solidFill>
                  <a:schemeClr val="tx1"/>
                </a:solidFill>
                <a:latin typeface="Voltaire" panose="020B0604020202020204" charset="0"/>
              </a:rPr>
              <a:t>smeštaju</a:t>
            </a:r>
            <a:r>
              <a:rPr lang="sr-Latn-ME" sz="1800" dirty="0">
                <a:solidFill>
                  <a:schemeClr val="tx1"/>
                </a:solidFill>
                <a:latin typeface="Voltaire" panose="020B0604020202020204" charset="0"/>
              </a:rPr>
              <a:t> se u druge strukture. </a:t>
            </a:r>
          </a:p>
          <a:p>
            <a:pPr marL="285750" indent="-28575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ME" sz="1800" dirty="0">
                <a:solidFill>
                  <a:schemeClr val="accent5">
                    <a:lumMod val="75000"/>
                  </a:schemeClr>
                </a:solidFill>
                <a:latin typeface="Voltaire" panose="020B0604020202020204" charset="0"/>
              </a:rPr>
              <a:t>ROW_OVERFLOW_DATA</a:t>
            </a:r>
            <a:r>
              <a:rPr lang="sr-Latn-ME" sz="1800" i="1" dirty="0">
                <a:solidFill>
                  <a:schemeClr val="tx1"/>
                </a:solidFill>
                <a:latin typeface="Voltaire" panose="020B0604020202020204" charset="0"/>
              </a:rPr>
              <a:t> -  </a:t>
            </a:r>
            <a:r>
              <a:rPr lang="sr-Latn-ME" sz="1800" dirty="0">
                <a:solidFill>
                  <a:schemeClr val="tx1"/>
                </a:solidFill>
                <a:latin typeface="Voltaire" panose="020B0604020202020204" charset="0"/>
              </a:rPr>
              <a:t>koristi se za podatke promenljive dužine i to ukoliko prevaziđu 8060 bajtova po zapisu. </a:t>
            </a:r>
          </a:p>
          <a:p>
            <a:pPr marL="285750" indent="-28575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ME" sz="1800" dirty="0">
                <a:solidFill>
                  <a:schemeClr val="accent5">
                    <a:lumMod val="75000"/>
                  </a:schemeClr>
                </a:solidFill>
                <a:latin typeface="Voltaire" panose="020B0604020202020204" charset="0"/>
              </a:rPr>
              <a:t>LOB_DATA </a:t>
            </a:r>
            <a:r>
              <a:rPr lang="sr-Latn-ME" sz="1800" dirty="0">
                <a:solidFill>
                  <a:schemeClr val="tx1"/>
                </a:solidFill>
                <a:latin typeface="Voltaire" panose="020B0604020202020204" charset="0"/>
              </a:rPr>
              <a:t>– struktura za čuvanje velikih objekata poput </a:t>
            </a:r>
            <a:r>
              <a:rPr lang="sr-Latn-ME" sz="1800" dirty="0" err="1">
                <a:solidFill>
                  <a:schemeClr val="tx1"/>
                </a:solidFill>
                <a:latin typeface="Voltaire" panose="020B0604020202020204" charset="0"/>
              </a:rPr>
              <a:t>delova</a:t>
            </a:r>
            <a:r>
              <a:rPr lang="sr-Latn-ME" sz="1800" dirty="0">
                <a:solidFill>
                  <a:schemeClr val="tx1"/>
                </a:solidFill>
                <a:latin typeface="Voltaire" panose="020B0604020202020204" charset="0"/>
              </a:rPr>
              <a:t> zapisa koji sadrže kolone tipa </a:t>
            </a:r>
            <a:r>
              <a:rPr lang="sr-Latn-ME" sz="1800" dirty="0" err="1">
                <a:solidFill>
                  <a:schemeClr val="tx1"/>
                </a:solidFill>
                <a:latin typeface="Voltaire" panose="020B0604020202020204" charset="0"/>
              </a:rPr>
              <a:t>varbinary</a:t>
            </a:r>
            <a:r>
              <a:rPr lang="sr-Latn-ME" sz="1800" dirty="0">
                <a:solidFill>
                  <a:schemeClr val="tx1"/>
                </a:solidFill>
                <a:latin typeface="Voltaire" panose="020B0604020202020204" charset="0"/>
              </a:rPr>
              <a:t>(</a:t>
            </a:r>
            <a:r>
              <a:rPr lang="sr-Latn-ME" sz="1800" dirty="0" err="1">
                <a:solidFill>
                  <a:schemeClr val="tx1"/>
                </a:solidFill>
                <a:latin typeface="Voltaire" panose="020B0604020202020204" charset="0"/>
              </a:rPr>
              <a:t>max</a:t>
            </a:r>
            <a:r>
              <a:rPr lang="sr-Latn-ME" sz="1800" dirty="0">
                <a:solidFill>
                  <a:schemeClr val="tx1"/>
                </a:solidFill>
                <a:latin typeface="Voltaire" panose="020B0604020202020204" charset="0"/>
              </a:rPr>
              <a:t>), </a:t>
            </a:r>
            <a:r>
              <a:rPr lang="sr-Latn-ME" sz="1800" dirty="0" err="1">
                <a:solidFill>
                  <a:schemeClr val="tx1"/>
                </a:solidFill>
                <a:latin typeface="Voltaire" panose="020B0604020202020204" charset="0"/>
              </a:rPr>
              <a:t>nvarchar</a:t>
            </a:r>
            <a:r>
              <a:rPr lang="sr-Latn-ME" sz="1800" dirty="0">
                <a:solidFill>
                  <a:schemeClr val="tx1"/>
                </a:solidFill>
                <a:latin typeface="Voltaire" panose="020B0604020202020204" charset="0"/>
              </a:rPr>
              <a:t>(</a:t>
            </a:r>
            <a:r>
              <a:rPr lang="sr-Latn-ME" sz="1800" dirty="0" err="1">
                <a:solidFill>
                  <a:schemeClr val="tx1"/>
                </a:solidFill>
                <a:latin typeface="Voltaire" panose="020B0604020202020204" charset="0"/>
              </a:rPr>
              <a:t>max</a:t>
            </a:r>
            <a:r>
              <a:rPr lang="sr-Latn-ME" sz="1800" dirty="0">
                <a:solidFill>
                  <a:schemeClr val="tx1"/>
                </a:solidFill>
                <a:latin typeface="Voltaire" panose="020B0604020202020204" charset="0"/>
              </a:rPr>
              <a:t>), </a:t>
            </a:r>
            <a:r>
              <a:rPr lang="sr-Latn-ME" sz="1800" dirty="0" err="1">
                <a:solidFill>
                  <a:schemeClr val="tx1"/>
                </a:solidFill>
                <a:latin typeface="Voltaire" panose="020B0604020202020204" charset="0"/>
              </a:rPr>
              <a:t>varchar</a:t>
            </a:r>
            <a:r>
              <a:rPr lang="sr-Latn-ME" sz="1800" dirty="0">
                <a:solidFill>
                  <a:schemeClr val="tx1"/>
                </a:solidFill>
                <a:latin typeface="Voltaire" panose="020B0604020202020204" charset="0"/>
              </a:rPr>
              <a:t>(</a:t>
            </a:r>
            <a:r>
              <a:rPr lang="sr-Latn-ME" sz="1800" dirty="0" err="1">
                <a:solidFill>
                  <a:schemeClr val="tx1"/>
                </a:solidFill>
                <a:latin typeface="Voltaire" panose="020B0604020202020204" charset="0"/>
              </a:rPr>
              <a:t>max</a:t>
            </a:r>
            <a:r>
              <a:rPr lang="sr-Latn-ME" sz="1800" dirty="0">
                <a:solidFill>
                  <a:schemeClr val="tx1"/>
                </a:solidFill>
                <a:latin typeface="Voltaire" panose="020B0604020202020204" charset="0"/>
              </a:rPr>
              <a:t>).</a:t>
            </a:r>
          </a:p>
        </p:txBody>
      </p:sp>
      <p:sp>
        <p:nvSpPr>
          <p:cNvPr id="10" name="Google Shape;615;p44">
            <a:extLst>
              <a:ext uri="{FF2B5EF4-FFF2-40B4-BE49-F238E27FC236}">
                <a16:creationId xmlns:a16="http://schemas.microsoft.com/office/drawing/2014/main" id="{CAA40535-46E0-42CB-B10B-4363B1817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424" y="325683"/>
            <a:ext cx="80923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sz="2600" dirty="0"/>
              <a:t>02.02 Skladištenje podataka – strukture za čuvanje zapisa</a:t>
            </a:r>
            <a:endParaRPr sz="2600" dirty="0"/>
          </a:p>
        </p:txBody>
      </p:sp>
    </p:spTree>
    <p:extLst>
      <p:ext uri="{BB962C8B-B14F-4D97-AF65-F5344CB8AC3E}">
        <p14:creationId xmlns:p14="http://schemas.microsoft.com/office/powerpoint/2010/main" val="1890598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20;p43">
            <a:extLst>
              <a:ext uri="{FF2B5EF4-FFF2-40B4-BE49-F238E27FC236}">
                <a16:creationId xmlns:a16="http://schemas.microsoft.com/office/drawing/2014/main" id="{0732AB48-51C4-42EA-94FD-B497D8799FA1}"/>
              </a:ext>
            </a:extLst>
          </p:cNvPr>
          <p:cNvSpPr txBox="1">
            <a:spLocks/>
          </p:cNvSpPr>
          <p:nvPr/>
        </p:nvSpPr>
        <p:spPr>
          <a:xfrm>
            <a:off x="479012" y="789484"/>
            <a:ext cx="7811575" cy="1896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285750" indent="-28575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ME" sz="1400" dirty="0">
                <a:solidFill>
                  <a:schemeClr val="accent5">
                    <a:lumMod val="75000"/>
                  </a:schemeClr>
                </a:solidFill>
                <a:latin typeface="Voltaire" panose="020B0604020202020204" charset="0"/>
              </a:rPr>
              <a:t>Vertikalno particionisanje </a:t>
            </a:r>
            <a:r>
              <a:rPr lang="sr-Latn-ME" sz="1400" dirty="0">
                <a:solidFill>
                  <a:schemeClr val="tx1"/>
                </a:solidFill>
                <a:latin typeface="Voltaire" panose="020B0604020202020204" charset="0"/>
              </a:rPr>
              <a:t>–</a:t>
            </a:r>
            <a:r>
              <a:rPr lang="sr-Latn-ME" sz="1400" dirty="0">
                <a:solidFill>
                  <a:schemeClr val="accent5">
                    <a:lumMod val="75000"/>
                  </a:schemeClr>
                </a:solidFill>
                <a:latin typeface="Voltaire" panose="020B0604020202020204" charset="0"/>
              </a:rPr>
              <a:t> </a:t>
            </a:r>
            <a:r>
              <a:rPr lang="sr-Latn-ME" sz="1400" dirty="0">
                <a:solidFill>
                  <a:schemeClr val="tx1"/>
                </a:solidFill>
                <a:latin typeface="Voltaire" panose="020B0604020202020204" charset="0"/>
              </a:rPr>
              <a:t>razdvajanje tabela po kolonama, na osnovu znanja o korišćenju podataka, sa ciljem poboljšanja performansi SQL Server-a.</a:t>
            </a:r>
          </a:p>
          <a:p>
            <a:pPr marL="285750" indent="-28575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ME" sz="1400" dirty="0">
                <a:solidFill>
                  <a:schemeClr val="tx1"/>
                </a:solidFill>
                <a:latin typeface="Voltaire" panose="020B0604020202020204" charset="0"/>
              </a:rPr>
              <a:t>Potreba postoji kada se u tabeli javljaju kritične kolone – informacije o lozinkama, plati i slično ili široki zapisi koji sadrže LOB kolone.</a:t>
            </a:r>
          </a:p>
        </p:txBody>
      </p:sp>
      <p:sp>
        <p:nvSpPr>
          <p:cNvPr id="10" name="Google Shape;615;p44">
            <a:extLst>
              <a:ext uri="{FF2B5EF4-FFF2-40B4-BE49-F238E27FC236}">
                <a16:creationId xmlns:a16="http://schemas.microsoft.com/office/drawing/2014/main" id="{CAA40535-46E0-42CB-B10B-4363B1817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424" y="325683"/>
            <a:ext cx="80923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sz="2600" dirty="0"/>
              <a:t>02.03 Skladištenje podataka – vertikalno particionisanje</a:t>
            </a:r>
            <a:endParaRPr sz="2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704A2D-9112-49E7-B44D-B777763C1C4F}"/>
              </a:ext>
            </a:extLst>
          </p:cNvPr>
          <p:cNvPicPr/>
          <p:nvPr/>
        </p:nvPicPr>
        <p:blipFill rotWithShape="1">
          <a:blip r:embed="rId2"/>
          <a:srcRect l="1864" t="-1412" r="2934" b="8946"/>
          <a:stretch/>
        </p:blipFill>
        <p:spPr bwMode="auto">
          <a:xfrm>
            <a:off x="1334702" y="2160000"/>
            <a:ext cx="6647815" cy="1313260"/>
          </a:xfrm>
          <a:prstGeom prst="rect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12E5D3-C0C8-43CA-8419-3A9F012F86F4}"/>
              </a:ext>
            </a:extLst>
          </p:cNvPr>
          <p:cNvPicPr/>
          <p:nvPr/>
        </p:nvPicPr>
        <p:blipFill rotWithShape="1">
          <a:blip r:embed="rId3"/>
          <a:srcRect l="893" t="-600" r="2557" b="19049"/>
          <a:stretch/>
        </p:blipFill>
        <p:spPr bwMode="auto">
          <a:xfrm>
            <a:off x="1334702" y="3484895"/>
            <a:ext cx="6647815" cy="1418240"/>
          </a:xfrm>
          <a:prstGeom prst="rect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4F191A4-087A-4BB1-86C1-9B9EE284CD3D}"/>
              </a:ext>
            </a:extLst>
          </p:cNvPr>
          <p:cNvSpPr/>
          <p:nvPr/>
        </p:nvSpPr>
        <p:spPr>
          <a:xfrm>
            <a:off x="2534399" y="2449918"/>
            <a:ext cx="3700800" cy="37440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R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8AF7BC-CEAE-4476-BB0B-241F1F7C4185}"/>
              </a:ext>
            </a:extLst>
          </p:cNvPr>
          <p:cNvSpPr/>
          <p:nvPr/>
        </p:nvSpPr>
        <p:spPr>
          <a:xfrm>
            <a:off x="2312400" y="3763178"/>
            <a:ext cx="3757200" cy="37440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RS"/>
          </a:p>
        </p:txBody>
      </p:sp>
      <p:sp>
        <p:nvSpPr>
          <p:cNvPr id="8" name="Google Shape;520;p43">
            <a:extLst>
              <a:ext uri="{FF2B5EF4-FFF2-40B4-BE49-F238E27FC236}">
                <a16:creationId xmlns:a16="http://schemas.microsoft.com/office/drawing/2014/main" id="{361B1BC1-D65A-4C03-9CAB-D898410888DD}"/>
              </a:ext>
            </a:extLst>
          </p:cNvPr>
          <p:cNvSpPr txBox="1">
            <a:spLocks/>
          </p:cNvSpPr>
          <p:nvPr/>
        </p:nvSpPr>
        <p:spPr>
          <a:xfrm>
            <a:off x="1735200" y="4804275"/>
            <a:ext cx="6821999" cy="377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0" indent="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</a:pPr>
            <a:r>
              <a:rPr lang="sr-Latn-ME" sz="1100" dirty="0">
                <a:solidFill>
                  <a:schemeClr val="tx1"/>
                </a:solidFill>
                <a:latin typeface="Voltaire" panose="020B0604020202020204" charset="0"/>
              </a:rPr>
              <a:t>Slika 3, Izvršenje istog upita nad tabelom sa „širokim“ zapisom (1) i nad vertikalno </a:t>
            </a:r>
            <a:r>
              <a:rPr lang="sr-Latn-ME" sz="1100" dirty="0" err="1">
                <a:solidFill>
                  <a:schemeClr val="tx1"/>
                </a:solidFill>
                <a:latin typeface="Voltaire" panose="020B0604020202020204" charset="0"/>
              </a:rPr>
              <a:t>particionisanom</a:t>
            </a:r>
            <a:r>
              <a:rPr lang="sr-Latn-ME" sz="1100" dirty="0">
                <a:solidFill>
                  <a:schemeClr val="tx1"/>
                </a:solidFill>
                <a:latin typeface="Voltaire" panose="020B0604020202020204" charset="0"/>
              </a:rPr>
              <a:t> tabelom(2)</a:t>
            </a:r>
          </a:p>
        </p:txBody>
      </p:sp>
    </p:spTree>
    <p:extLst>
      <p:ext uri="{BB962C8B-B14F-4D97-AF65-F5344CB8AC3E}">
        <p14:creationId xmlns:p14="http://schemas.microsoft.com/office/powerpoint/2010/main" val="3104777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20;p43">
            <a:extLst>
              <a:ext uri="{FF2B5EF4-FFF2-40B4-BE49-F238E27FC236}">
                <a16:creationId xmlns:a16="http://schemas.microsoft.com/office/drawing/2014/main" id="{0732AB48-51C4-42EA-94FD-B497D8799FA1}"/>
              </a:ext>
            </a:extLst>
          </p:cNvPr>
          <p:cNvSpPr txBox="1">
            <a:spLocks/>
          </p:cNvSpPr>
          <p:nvPr/>
        </p:nvSpPr>
        <p:spPr>
          <a:xfrm>
            <a:off x="547624" y="1258383"/>
            <a:ext cx="7811575" cy="4134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lvl="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b="1" dirty="0" err="1"/>
              <a:t>char</a:t>
            </a:r>
            <a:r>
              <a:rPr lang="sr-Latn-RS" b="1" dirty="0"/>
              <a:t>(n)</a:t>
            </a:r>
            <a:r>
              <a:rPr lang="sr-Latn-RS" dirty="0"/>
              <a:t> – za tekst fiksne dužine. Ne podržava </a:t>
            </a:r>
            <a:r>
              <a:rPr lang="sr-Latn-RS" i="1" dirty="0" err="1"/>
              <a:t>Unicode</a:t>
            </a:r>
            <a:r>
              <a:rPr lang="sr-Latn-RS" dirty="0"/>
              <a:t>. </a:t>
            </a:r>
            <a:r>
              <a:rPr lang="sr-Latn-RS" i="1" dirty="0"/>
              <a:t>n</a:t>
            </a:r>
            <a:r>
              <a:rPr lang="sr-Latn-RS" dirty="0"/>
              <a:t> specificira dužinu teksta (od 1 do 8000 karaktera). Prostor koji podatak zauzima je fiksni – </a:t>
            </a:r>
            <a:r>
              <a:rPr lang="sr-Latn-RS" i="1" dirty="0"/>
              <a:t>n </a:t>
            </a:r>
            <a:r>
              <a:rPr lang="sr-Latn-RS" dirty="0"/>
              <a:t>bajtova.</a:t>
            </a:r>
          </a:p>
          <a:p>
            <a:pPr lvl="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b="1" dirty="0" err="1"/>
              <a:t>varchar</a:t>
            </a:r>
            <a:r>
              <a:rPr lang="sr-Latn-RS" b="1" dirty="0"/>
              <a:t>(n)</a:t>
            </a:r>
            <a:r>
              <a:rPr lang="sr-Latn-RS" dirty="0"/>
              <a:t> – za tekst promenljive dužine i ne podržava </a:t>
            </a:r>
            <a:r>
              <a:rPr lang="sr-Latn-RS" i="1" dirty="0" err="1"/>
              <a:t>Unicode</a:t>
            </a:r>
            <a:r>
              <a:rPr lang="sr-Latn-RS" dirty="0"/>
              <a:t>. Prostor koji podatak zauzima je promenljiv, do </a:t>
            </a:r>
            <a:r>
              <a:rPr lang="sr-Latn-RS" i="1" dirty="0"/>
              <a:t>n</a:t>
            </a:r>
            <a:r>
              <a:rPr lang="sr-Latn-RS" dirty="0"/>
              <a:t> bajtova. </a:t>
            </a:r>
          </a:p>
          <a:p>
            <a:pPr lvl="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b="1" dirty="0" err="1"/>
              <a:t>varchar</a:t>
            </a:r>
            <a:r>
              <a:rPr lang="sr-Latn-RS" b="1" dirty="0"/>
              <a:t>(</a:t>
            </a:r>
            <a:r>
              <a:rPr lang="sr-Latn-RS" b="1" dirty="0" err="1"/>
              <a:t>max</a:t>
            </a:r>
            <a:r>
              <a:rPr lang="sr-Latn-RS" b="1" dirty="0"/>
              <a:t>)</a:t>
            </a:r>
            <a:r>
              <a:rPr lang="sr-Latn-RS" dirty="0"/>
              <a:t> – Može da čuva do 2 gigabajta po koloni, ali koristi više prostora na disku, što može dovesti do više operacija čitanja i upisa na disk.</a:t>
            </a:r>
          </a:p>
          <a:p>
            <a:pPr lvl="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b="1" dirty="0" err="1"/>
              <a:t>nchar</a:t>
            </a:r>
            <a:r>
              <a:rPr lang="sr-Latn-RS" b="1" dirty="0"/>
              <a:t>(n)</a:t>
            </a:r>
            <a:r>
              <a:rPr lang="sr-Latn-RS" dirty="0"/>
              <a:t> – za tekst fiksne dužine i podržava </a:t>
            </a:r>
            <a:r>
              <a:rPr lang="sr-Latn-RS" i="1" dirty="0" err="1"/>
              <a:t>Unicode</a:t>
            </a:r>
            <a:r>
              <a:rPr lang="sr-Latn-RS" dirty="0"/>
              <a:t>. </a:t>
            </a:r>
            <a:r>
              <a:rPr lang="sr-Latn-RS" i="1" dirty="0"/>
              <a:t>n</a:t>
            </a:r>
            <a:r>
              <a:rPr lang="sr-Latn-RS" dirty="0"/>
              <a:t> specificira dužinu teksta (od 1 do 4000 karaktera).</a:t>
            </a:r>
          </a:p>
          <a:p>
            <a:pPr lvl="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b="1" dirty="0" err="1"/>
              <a:t>nvarchar</a:t>
            </a:r>
            <a:r>
              <a:rPr lang="sr-Latn-RS" b="1" dirty="0"/>
              <a:t>(n)</a:t>
            </a:r>
            <a:r>
              <a:rPr lang="sr-Latn-RS" dirty="0"/>
              <a:t> –</a:t>
            </a:r>
            <a:r>
              <a:rPr lang="sr-Latn-RS" i="1" dirty="0"/>
              <a:t> n </a:t>
            </a:r>
            <a:r>
              <a:rPr lang="sr-Latn-RS" dirty="0"/>
              <a:t>se kreće od 1 do 4000 i tip podržava </a:t>
            </a:r>
            <a:r>
              <a:rPr lang="sr-Latn-RS" dirty="0" err="1"/>
              <a:t>Unicode</a:t>
            </a:r>
            <a:r>
              <a:rPr lang="sr-Latn-RS" dirty="0"/>
              <a:t>. Za svaki karakter se koriste 2 bajta.</a:t>
            </a:r>
          </a:p>
          <a:p>
            <a:pPr lvl="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b="1" dirty="0" err="1"/>
              <a:t>nvarchar</a:t>
            </a:r>
            <a:r>
              <a:rPr lang="sr-Latn-RS" b="1" dirty="0"/>
              <a:t>(</a:t>
            </a:r>
            <a:r>
              <a:rPr lang="sr-Latn-RS" b="1" dirty="0" err="1"/>
              <a:t>max</a:t>
            </a:r>
            <a:r>
              <a:rPr lang="sr-Latn-RS" b="1" dirty="0"/>
              <a:t>)</a:t>
            </a:r>
            <a:r>
              <a:rPr lang="sr-Latn-RS" dirty="0"/>
              <a:t> –može da se čuva do 1 gigabajt podataka i podržava </a:t>
            </a:r>
            <a:r>
              <a:rPr lang="sr-Latn-RS" i="1" dirty="0" err="1"/>
              <a:t>Unicode</a:t>
            </a:r>
            <a:r>
              <a:rPr lang="sr-Latn-RS" dirty="0"/>
              <a:t>. Za svaki karakter se koristi 2 bajta.</a:t>
            </a:r>
          </a:p>
        </p:txBody>
      </p:sp>
      <p:sp>
        <p:nvSpPr>
          <p:cNvPr id="10" name="Google Shape;615;p44">
            <a:extLst>
              <a:ext uri="{FF2B5EF4-FFF2-40B4-BE49-F238E27FC236}">
                <a16:creationId xmlns:a16="http://schemas.microsoft.com/office/drawing/2014/main" id="{CAA40535-46E0-42CB-B10B-4363B1817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424" y="325683"/>
            <a:ext cx="80923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sz="2600" dirty="0"/>
              <a:t>02.03 Tipovi podataka - Tekstualni</a:t>
            </a:r>
            <a:endParaRPr sz="2600" dirty="0"/>
          </a:p>
        </p:txBody>
      </p:sp>
    </p:spTree>
    <p:extLst>
      <p:ext uri="{BB962C8B-B14F-4D97-AF65-F5344CB8AC3E}">
        <p14:creationId xmlns:p14="http://schemas.microsoft.com/office/powerpoint/2010/main" val="1897594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20;p43">
            <a:extLst>
              <a:ext uri="{FF2B5EF4-FFF2-40B4-BE49-F238E27FC236}">
                <a16:creationId xmlns:a16="http://schemas.microsoft.com/office/drawing/2014/main" id="{0732AB48-51C4-42EA-94FD-B497D8799FA1}"/>
              </a:ext>
            </a:extLst>
          </p:cNvPr>
          <p:cNvSpPr txBox="1">
            <a:spLocks/>
          </p:cNvSpPr>
          <p:nvPr/>
        </p:nvSpPr>
        <p:spPr>
          <a:xfrm>
            <a:off x="454023" y="419883"/>
            <a:ext cx="7811575" cy="237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lvl="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sz="1500" b="1" dirty="0" err="1"/>
              <a:t>tinyint</a:t>
            </a:r>
            <a:r>
              <a:rPr lang="sr-Latn-RS" sz="1500" dirty="0"/>
              <a:t> – vrednosti od 0 do 255. Zauzima samo 1 bajt.</a:t>
            </a:r>
          </a:p>
          <a:p>
            <a:pPr lvl="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sz="1500" b="1" dirty="0" err="1"/>
              <a:t>smallint</a:t>
            </a:r>
            <a:r>
              <a:rPr lang="sr-Latn-RS" sz="1500" b="1" dirty="0"/>
              <a:t> </a:t>
            </a:r>
            <a:r>
              <a:rPr lang="sr-Latn-RS" sz="1500" dirty="0"/>
              <a:t>– vrednosti od -2</a:t>
            </a:r>
            <a:r>
              <a:rPr lang="sr-Latn-RS" sz="1500" baseline="30000" dirty="0"/>
              <a:t>15 </a:t>
            </a:r>
            <a:r>
              <a:rPr lang="sr-Latn-RS" sz="1500" dirty="0"/>
              <a:t>do 2</a:t>
            </a:r>
            <a:r>
              <a:rPr lang="sr-Latn-RS" sz="1500" baseline="30000" dirty="0"/>
              <a:t>15</a:t>
            </a:r>
            <a:r>
              <a:rPr lang="sr-Latn-RS" sz="1500" dirty="0"/>
              <a:t>-1. Zauzima 2 bajta.</a:t>
            </a:r>
          </a:p>
          <a:p>
            <a:pPr lvl="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sz="1500" b="1" dirty="0" err="1"/>
              <a:t>int</a:t>
            </a:r>
            <a:r>
              <a:rPr lang="sr-Latn-RS" sz="1500" dirty="0"/>
              <a:t> – vrednosti od -2</a:t>
            </a:r>
            <a:r>
              <a:rPr lang="sr-Latn-RS" sz="1500" baseline="30000" dirty="0"/>
              <a:t>31 </a:t>
            </a:r>
            <a:r>
              <a:rPr lang="sr-Latn-RS" sz="1500" dirty="0"/>
              <a:t>do 2</a:t>
            </a:r>
            <a:r>
              <a:rPr lang="sr-Latn-RS" sz="1500" baseline="30000" dirty="0"/>
              <a:t>31</a:t>
            </a:r>
            <a:r>
              <a:rPr lang="sr-Latn-RS" sz="1500" dirty="0"/>
              <a:t>-1. Zauzima 4 bajta.</a:t>
            </a:r>
          </a:p>
          <a:p>
            <a:pPr lvl="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sz="1500" b="1" dirty="0" err="1"/>
              <a:t>bigint</a:t>
            </a:r>
            <a:r>
              <a:rPr lang="sr-Latn-RS" sz="1500" dirty="0"/>
              <a:t> - vrednosti od -2</a:t>
            </a:r>
            <a:r>
              <a:rPr lang="sr-Latn-RS" sz="1500" baseline="30000" dirty="0"/>
              <a:t>63 </a:t>
            </a:r>
            <a:r>
              <a:rPr lang="sr-Latn-RS" sz="1500" dirty="0"/>
              <a:t>do 2</a:t>
            </a:r>
            <a:r>
              <a:rPr lang="sr-Latn-RS" sz="1500" baseline="30000" dirty="0"/>
              <a:t>63</a:t>
            </a:r>
            <a:r>
              <a:rPr lang="sr-Latn-RS" sz="1500" dirty="0"/>
              <a:t>-1. Zauzima 8 bajtova.</a:t>
            </a:r>
          </a:p>
          <a:p>
            <a:pPr lvl="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sz="1500" b="1" dirty="0"/>
              <a:t>decimal[(</a:t>
            </a:r>
            <a:r>
              <a:rPr lang="sr-Latn-RS" sz="1500" b="1" dirty="0" err="1"/>
              <a:t>p,s</a:t>
            </a:r>
            <a:r>
              <a:rPr lang="sr-Latn-RS" sz="1500" b="1" dirty="0"/>
              <a:t>)], </a:t>
            </a:r>
            <a:r>
              <a:rPr lang="sr-Latn-RS" sz="1500" b="1" dirty="0" err="1"/>
              <a:t>numeric</a:t>
            </a:r>
            <a:r>
              <a:rPr lang="sr-Latn-RS" sz="1500" b="1" dirty="0"/>
              <a:t>[(</a:t>
            </a:r>
            <a:r>
              <a:rPr lang="sr-Latn-RS" sz="1500" b="1" dirty="0" err="1"/>
              <a:t>p,s</a:t>
            </a:r>
            <a:r>
              <a:rPr lang="sr-Latn-RS" sz="1500" b="1" dirty="0"/>
              <a:t>)]</a:t>
            </a:r>
            <a:r>
              <a:rPr lang="sr-Latn-RS" sz="1500" dirty="0"/>
              <a:t> – identični tipovi. Ukupan broj cifara koji se čuva je određen sa p (</a:t>
            </a:r>
            <a:r>
              <a:rPr lang="sr-Latn-RS" sz="1500" dirty="0" err="1"/>
              <a:t>engl.precision</a:t>
            </a:r>
            <a:r>
              <a:rPr lang="sr-Latn-RS" sz="1500" dirty="0"/>
              <a:t>), a broj cifara sa desne strane decimalnog zareza je određen sa s (</a:t>
            </a:r>
            <a:r>
              <a:rPr lang="sr-Latn-RS" sz="1500" dirty="0" err="1"/>
              <a:t>engl.scale</a:t>
            </a:r>
            <a:r>
              <a:rPr lang="sr-Latn-RS" sz="1500" dirty="0"/>
              <a:t>). </a:t>
            </a:r>
          </a:p>
          <a:p>
            <a:pPr lvl="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sz="1500" b="1" dirty="0" err="1"/>
              <a:t>money</a:t>
            </a:r>
            <a:r>
              <a:rPr lang="sr-Latn-RS" sz="1500" dirty="0"/>
              <a:t> – Specijalni tip podataka sa 4 decimalna mesta. Zauzima 8 bajtova.</a:t>
            </a:r>
          </a:p>
          <a:p>
            <a:pPr lvl="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sz="1500" b="1" dirty="0" err="1"/>
              <a:t>smallmoney</a:t>
            </a:r>
            <a:r>
              <a:rPr lang="sr-Latn-RS" sz="1500" dirty="0"/>
              <a:t> – Slično kao </a:t>
            </a:r>
            <a:r>
              <a:rPr lang="sr-Latn-RS" sz="1500" b="1" dirty="0" err="1"/>
              <a:t>money</a:t>
            </a:r>
            <a:r>
              <a:rPr lang="sr-Latn-RS" sz="1500" dirty="0"/>
              <a:t>, ali je preciznost 10 cifara i zauzima 4 bajta.</a:t>
            </a:r>
          </a:p>
          <a:p>
            <a:pPr lvl="0">
              <a:buFont typeface="Arial" panose="020B0604020202020204" pitchFamily="34" charset="0"/>
              <a:buChar char="•"/>
            </a:pPr>
            <a:endParaRPr lang="sr-Latn-RS" sz="1500" dirty="0"/>
          </a:p>
          <a:p>
            <a:pPr lvl="0">
              <a:buFont typeface="Arial" panose="020B0604020202020204" pitchFamily="34" charset="0"/>
              <a:buChar char="•"/>
            </a:pPr>
            <a:endParaRPr lang="sr-Latn-RS" sz="1500" dirty="0"/>
          </a:p>
        </p:txBody>
      </p:sp>
      <p:sp>
        <p:nvSpPr>
          <p:cNvPr id="10" name="Google Shape;615;p44">
            <a:extLst>
              <a:ext uri="{FF2B5EF4-FFF2-40B4-BE49-F238E27FC236}">
                <a16:creationId xmlns:a16="http://schemas.microsoft.com/office/drawing/2014/main" id="{CAA40535-46E0-42CB-B10B-4363B1817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5812" y="0"/>
            <a:ext cx="80923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sz="2600" dirty="0"/>
              <a:t>02.03 Tipovi podataka - Numerički</a:t>
            </a:r>
            <a:endParaRPr sz="2600" dirty="0"/>
          </a:p>
        </p:txBody>
      </p:sp>
      <p:sp>
        <p:nvSpPr>
          <p:cNvPr id="4" name="Google Shape;615;p44">
            <a:extLst>
              <a:ext uri="{FF2B5EF4-FFF2-40B4-BE49-F238E27FC236}">
                <a16:creationId xmlns:a16="http://schemas.microsoft.com/office/drawing/2014/main" id="{27C8CB49-4DBB-401C-B9C5-4C04A2927C4F}"/>
              </a:ext>
            </a:extLst>
          </p:cNvPr>
          <p:cNvSpPr txBox="1">
            <a:spLocks/>
          </p:cNvSpPr>
          <p:nvPr/>
        </p:nvSpPr>
        <p:spPr>
          <a:xfrm>
            <a:off x="525811" y="2640783"/>
            <a:ext cx="809237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oltaire"/>
              <a:buNone/>
              <a:defRPr sz="2800" b="1" i="0" u="none" strike="noStrike" cap="none">
                <a:solidFill>
                  <a:schemeClr val="dk1"/>
                </a:solidFill>
                <a:latin typeface="Voltaire"/>
                <a:ea typeface="Voltaire"/>
                <a:cs typeface="Voltaire"/>
                <a:sym typeface="Voltair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sr-Latn-ME" sz="2600" dirty="0"/>
              <a:t>02.03 Tipovi podataka – Datumi</a:t>
            </a:r>
          </a:p>
        </p:txBody>
      </p:sp>
      <p:sp>
        <p:nvSpPr>
          <p:cNvPr id="5" name="Google Shape;520;p43">
            <a:extLst>
              <a:ext uri="{FF2B5EF4-FFF2-40B4-BE49-F238E27FC236}">
                <a16:creationId xmlns:a16="http://schemas.microsoft.com/office/drawing/2014/main" id="{E0E1726B-E3C0-4C69-9984-C70A6CEAC3B3}"/>
              </a:ext>
            </a:extLst>
          </p:cNvPr>
          <p:cNvSpPr txBox="1">
            <a:spLocks/>
          </p:cNvSpPr>
          <p:nvPr/>
        </p:nvSpPr>
        <p:spPr>
          <a:xfrm>
            <a:off x="454022" y="3126483"/>
            <a:ext cx="7811575" cy="237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412750" lvl="0" indent="-28575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sz="1400" b="1" dirty="0"/>
              <a:t>date</a:t>
            </a:r>
            <a:r>
              <a:rPr lang="sr-Latn-RS" sz="1400" dirty="0"/>
              <a:t> – Koristi 3 bajta i čuva datume opsega </a:t>
            </a:r>
            <a:r>
              <a:rPr lang="sr-Latn-RS" sz="1400" i="1" dirty="0"/>
              <a:t>0001-01-01</a:t>
            </a:r>
            <a:r>
              <a:rPr lang="sr-Latn-RS" sz="1400" dirty="0"/>
              <a:t> do 9999-12-</a:t>
            </a:r>
            <a:r>
              <a:rPr lang="sr-Latn-RS" sz="1400" i="1" dirty="0"/>
              <a:t>31</a:t>
            </a:r>
            <a:r>
              <a:rPr lang="sr-Latn-RS" sz="1400" dirty="0"/>
              <a:t>.</a:t>
            </a:r>
          </a:p>
          <a:p>
            <a:pPr marL="412750" lvl="0" indent="-28575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sz="1400" b="1" dirty="0"/>
              <a:t>time[(n)] </a:t>
            </a:r>
            <a:r>
              <a:rPr lang="sr-Latn-RS" sz="1400" dirty="0"/>
              <a:t>– Koristi se za čuvanje vremena u toku dana. Koristi 5 bajtova. </a:t>
            </a:r>
          </a:p>
          <a:p>
            <a:pPr marL="412750" lvl="0" indent="-28575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sz="1400" b="1" dirty="0" err="1"/>
              <a:t>datetime</a:t>
            </a:r>
            <a:r>
              <a:rPr lang="sr-Latn-RS" sz="1400" dirty="0"/>
              <a:t> – može čuvati samo datume od Jan 1, 1753 do Dec 31,9999. Koristi 8 bajtova.</a:t>
            </a:r>
          </a:p>
          <a:p>
            <a:pPr marL="412750" lvl="0" indent="-28575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sz="1400" b="1" dirty="0" err="1"/>
              <a:t>smalldatetime</a:t>
            </a:r>
            <a:r>
              <a:rPr lang="sr-Latn-RS" sz="1400" dirty="0"/>
              <a:t> – Čuva datume opsega Jan 1, 1900 do Jun 6, 2079. Koristi 4 bajta.</a:t>
            </a:r>
          </a:p>
          <a:p>
            <a:pPr marL="412750" lvl="0" indent="-28575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sz="1400" b="1" dirty="0"/>
              <a:t>datetime2(n) </a:t>
            </a:r>
            <a:r>
              <a:rPr lang="sr-Latn-RS" sz="1400" dirty="0"/>
              <a:t>– </a:t>
            </a:r>
            <a:r>
              <a:rPr lang="sr-Latn-RS" sz="1400" b="1" dirty="0"/>
              <a:t>date </a:t>
            </a:r>
            <a:r>
              <a:rPr lang="sr-Latn-RS" sz="1400" dirty="0"/>
              <a:t>tip u kombinaciji sa </a:t>
            </a:r>
            <a:r>
              <a:rPr lang="sr-Latn-RS" sz="1400" b="1" dirty="0"/>
              <a:t>time </a:t>
            </a:r>
            <a:r>
              <a:rPr lang="sr-Latn-RS" sz="1400" dirty="0"/>
              <a:t>tipom. Opseg datuma i vremena je 0001-01-01 do 9999-12-31. Zauzima 6 do 8 bajtova, u zavisnosti od preciznosti. </a:t>
            </a:r>
          </a:p>
          <a:p>
            <a:pPr marL="412750" lvl="0" indent="-28575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sz="1400" b="1" dirty="0" err="1"/>
              <a:t>datetimeoffset</a:t>
            </a:r>
            <a:r>
              <a:rPr lang="sr-Latn-RS" sz="1400" b="1" dirty="0"/>
              <a:t>(n) </a:t>
            </a:r>
            <a:r>
              <a:rPr lang="sr-Latn-RS" sz="1400" dirty="0"/>
              <a:t>– </a:t>
            </a:r>
            <a:r>
              <a:rPr lang="sr-Latn-RS" sz="1400" b="1" dirty="0"/>
              <a:t>datetime2 </a:t>
            </a:r>
            <a:r>
              <a:rPr lang="sr-Latn-RS" sz="1400" dirty="0"/>
              <a:t>tip u kombinaciji sa vremenskom zonom. Opseg datuma i vremena isti kao za </a:t>
            </a:r>
            <a:r>
              <a:rPr lang="sr-Latn-RS" sz="1400" b="1" dirty="0"/>
              <a:t>datetime2 </a:t>
            </a:r>
            <a:r>
              <a:rPr lang="sr-Latn-RS" sz="1400" dirty="0"/>
              <a:t>tip. Uvek zauzima 10 bajtova.</a:t>
            </a:r>
          </a:p>
          <a:p>
            <a:pPr marL="412750" lvl="0" indent="-28575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endParaRPr lang="sr-Latn-RS" sz="1400" dirty="0"/>
          </a:p>
        </p:txBody>
      </p:sp>
    </p:spTree>
    <p:extLst>
      <p:ext uri="{BB962C8B-B14F-4D97-AF65-F5344CB8AC3E}">
        <p14:creationId xmlns:p14="http://schemas.microsoft.com/office/powerpoint/2010/main" val="77080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20;p43">
            <a:extLst>
              <a:ext uri="{FF2B5EF4-FFF2-40B4-BE49-F238E27FC236}">
                <a16:creationId xmlns:a16="http://schemas.microsoft.com/office/drawing/2014/main" id="{0732AB48-51C4-42EA-94FD-B497D8799FA1}"/>
              </a:ext>
            </a:extLst>
          </p:cNvPr>
          <p:cNvSpPr txBox="1">
            <a:spLocks/>
          </p:cNvSpPr>
          <p:nvPr/>
        </p:nvSpPr>
        <p:spPr>
          <a:xfrm>
            <a:off x="533224" y="1101526"/>
            <a:ext cx="7710775" cy="139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lvl="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dirty="0"/>
              <a:t>Potencijalno se dešava svuda gde se javlja neki oblik poređenja kolone – sa </a:t>
            </a:r>
            <a:r>
              <a:rPr lang="sr-Latn-RS" dirty="0" err="1"/>
              <a:t>literalom</a:t>
            </a:r>
            <a:r>
              <a:rPr lang="sr-Latn-RS" dirty="0"/>
              <a:t>, promenljivom ili parametrom procedure</a:t>
            </a:r>
          </a:p>
          <a:p>
            <a:pPr lvl="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dirty="0"/>
              <a:t>SQL Server je obavlja za nas i ona može biti prilično skupa operacija</a:t>
            </a:r>
          </a:p>
          <a:p>
            <a:pPr lvl="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dirty="0"/>
              <a:t>Niži tip podataka mora da bude konvertovan u viši</a:t>
            </a:r>
          </a:p>
          <a:p>
            <a:pPr lvl="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ME" b="1" dirty="0"/>
              <a:t>P</a:t>
            </a:r>
            <a:r>
              <a:rPr lang="sr-Latn-RS" b="1" dirty="0" err="1"/>
              <a:t>roblem</a:t>
            </a:r>
            <a:r>
              <a:rPr lang="sr-Latn-RS" dirty="0"/>
              <a:t>: Ukoliko je kolona nižeg tipa </a:t>
            </a:r>
          </a:p>
        </p:txBody>
      </p:sp>
      <p:sp>
        <p:nvSpPr>
          <p:cNvPr id="10" name="Google Shape;615;p44">
            <a:extLst>
              <a:ext uri="{FF2B5EF4-FFF2-40B4-BE49-F238E27FC236}">
                <a16:creationId xmlns:a16="http://schemas.microsoft.com/office/drawing/2014/main" id="{CAA40535-46E0-42CB-B10B-4363B1817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424" y="325683"/>
            <a:ext cx="80923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sz="2600" dirty="0"/>
              <a:t>02.04 Tipovi podataka – Implicitna konverzija</a:t>
            </a:r>
            <a:endParaRPr sz="2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8154AA-7D8B-4660-A2C1-B2E02A2F68F3}"/>
              </a:ext>
            </a:extLst>
          </p:cNvPr>
          <p:cNvPicPr/>
          <p:nvPr/>
        </p:nvPicPr>
        <p:blipFill rotWithShape="1">
          <a:blip r:embed="rId2"/>
          <a:srcRect l="1161" t="-532" r="44405" b="7338"/>
          <a:stretch/>
        </p:blipFill>
        <p:spPr bwMode="auto">
          <a:xfrm>
            <a:off x="882433" y="3065344"/>
            <a:ext cx="2618105" cy="976630"/>
          </a:xfrm>
          <a:prstGeom prst="rect">
            <a:avLst/>
          </a:prstGeom>
          <a:ln w="12700">
            <a:solidFill>
              <a:schemeClr val="accent4">
                <a:lumMod val="60000"/>
                <a:lumOff val="40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FA1650-E258-4B28-A6EE-A7B1E43227AB}"/>
              </a:ext>
            </a:extLst>
          </p:cNvPr>
          <p:cNvPicPr/>
          <p:nvPr/>
        </p:nvPicPr>
        <p:blipFill rotWithShape="1">
          <a:blip r:embed="rId3"/>
          <a:srcRect l="1220" r="2092" b="10817"/>
          <a:stretch/>
        </p:blipFill>
        <p:spPr bwMode="auto">
          <a:xfrm>
            <a:off x="145561" y="4041974"/>
            <a:ext cx="4091850" cy="828675"/>
          </a:xfrm>
          <a:prstGeom prst="rect">
            <a:avLst/>
          </a:prstGeom>
          <a:ln w="12700">
            <a:solidFill>
              <a:schemeClr val="accent4">
                <a:lumMod val="60000"/>
                <a:lumOff val="40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7B2DFF-69E4-455D-A788-F27A6822E6D5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392801" y="3207853"/>
            <a:ext cx="2258060" cy="850900"/>
          </a:xfrm>
          <a:prstGeom prst="rect">
            <a:avLst/>
          </a:prstGeom>
          <a:ln w="12700">
            <a:solidFill>
              <a:schemeClr val="accent4">
                <a:lumMod val="60000"/>
                <a:lumOff val="4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73975E-08FC-4185-901A-CCBA7985205D}"/>
              </a:ext>
            </a:extLst>
          </p:cNvPr>
          <p:cNvPicPr/>
          <p:nvPr/>
        </p:nvPicPr>
        <p:blipFill rotWithShape="1">
          <a:blip r:embed="rId5"/>
          <a:srcRect t="1" b="5273"/>
          <a:stretch/>
        </p:blipFill>
        <p:spPr bwMode="auto">
          <a:xfrm>
            <a:off x="4453411" y="4058753"/>
            <a:ext cx="4487850" cy="828676"/>
          </a:xfrm>
          <a:prstGeom prst="rect">
            <a:avLst/>
          </a:prstGeom>
          <a:ln w="12700">
            <a:solidFill>
              <a:schemeClr val="accent4">
                <a:lumMod val="60000"/>
                <a:lumOff val="40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Google Shape;520;p43">
            <a:extLst>
              <a:ext uri="{FF2B5EF4-FFF2-40B4-BE49-F238E27FC236}">
                <a16:creationId xmlns:a16="http://schemas.microsoft.com/office/drawing/2014/main" id="{EB15E741-4EAC-40BB-95DA-A4D465E6E6C9}"/>
              </a:ext>
            </a:extLst>
          </p:cNvPr>
          <p:cNvSpPr txBox="1">
            <a:spLocks/>
          </p:cNvSpPr>
          <p:nvPr/>
        </p:nvSpPr>
        <p:spPr>
          <a:xfrm>
            <a:off x="1267411" y="4766357"/>
            <a:ext cx="2310989" cy="377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0" indent="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</a:pPr>
            <a:r>
              <a:rPr lang="sr-Latn-ME" sz="1100" dirty="0">
                <a:solidFill>
                  <a:schemeClr val="tx1"/>
                </a:solidFill>
                <a:latin typeface="Voltaire" panose="020B0604020202020204" charset="0"/>
              </a:rPr>
              <a:t>Slika 4, Prisutna implicitna konverzija</a:t>
            </a:r>
          </a:p>
        </p:txBody>
      </p:sp>
      <p:sp>
        <p:nvSpPr>
          <p:cNvPr id="11" name="Google Shape;520;p43">
            <a:extLst>
              <a:ext uri="{FF2B5EF4-FFF2-40B4-BE49-F238E27FC236}">
                <a16:creationId xmlns:a16="http://schemas.microsoft.com/office/drawing/2014/main" id="{2427EE1A-BD18-4766-88E4-9089D90F96B7}"/>
              </a:ext>
            </a:extLst>
          </p:cNvPr>
          <p:cNvSpPr txBox="1">
            <a:spLocks/>
          </p:cNvSpPr>
          <p:nvPr/>
        </p:nvSpPr>
        <p:spPr>
          <a:xfrm>
            <a:off x="5565602" y="4766356"/>
            <a:ext cx="2399759" cy="377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0" indent="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</a:pPr>
            <a:r>
              <a:rPr lang="sr-Latn-ME" sz="1100" dirty="0">
                <a:solidFill>
                  <a:schemeClr val="tx1"/>
                </a:solidFill>
                <a:latin typeface="Voltaire" panose="020B0604020202020204" charset="0"/>
              </a:rPr>
              <a:t>Slika 5, Nije prisutna implicitna konverzija</a:t>
            </a:r>
          </a:p>
        </p:txBody>
      </p:sp>
    </p:spTree>
    <p:extLst>
      <p:ext uri="{BB962C8B-B14F-4D97-AF65-F5344CB8AC3E}">
        <p14:creationId xmlns:p14="http://schemas.microsoft.com/office/powerpoint/2010/main" val="531661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20;p43">
            <a:extLst>
              <a:ext uri="{FF2B5EF4-FFF2-40B4-BE49-F238E27FC236}">
                <a16:creationId xmlns:a16="http://schemas.microsoft.com/office/drawing/2014/main" id="{0732AB48-51C4-42EA-94FD-B497D8799FA1}"/>
              </a:ext>
            </a:extLst>
          </p:cNvPr>
          <p:cNvSpPr txBox="1">
            <a:spLocks/>
          </p:cNvSpPr>
          <p:nvPr/>
        </p:nvSpPr>
        <p:spPr>
          <a:xfrm>
            <a:off x="533222" y="1173333"/>
            <a:ext cx="7710775" cy="139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lvl="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dirty="0"/>
              <a:t>Kompresija se može obaviti nad tabelom, </a:t>
            </a:r>
            <a:r>
              <a:rPr lang="sr-Latn-RS" i="1" dirty="0" err="1"/>
              <a:t>heap</a:t>
            </a:r>
            <a:r>
              <a:rPr lang="sr-Latn-RS" i="1" dirty="0"/>
              <a:t>-</a:t>
            </a:r>
            <a:r>
              <a:rPr lang="sr-Latn-RS" dirty="0"/>
              <a:t>om, klasterovanim indeksom, neklasterovanim indeksom, indeksiranim pogledom ili particionisanim tabelama i indeksima.</a:t>
            </a:r>
          </a:p>
          <a:p>
            <a:pPr lvl="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i="1" dirty="0"/>
              <a:t> </a:t>
            </a:r>
            <a:r>
              <a:rPr lang="sr-Latn-RS" dirty="0"/>
              <a:t>SQL Server podržava dva tipa kompresije podataka – </a:t>
            </a:r>
            <a:r>
              <a:rPr lang="sr-Latn-RS" b="1" dirty="0" err="1">
                <a:solidFill>
                  <a:schemeClr val="accent5">
                    <a:lumMod val="75000"/>
                  </a:schemeClr>
                </a:solidFill>
              </a:rPr>
              <a:t>Row</a:t>
            </a:r>
            <a:r>
              <a:rPr lang="sr-Latn-RS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sr-Latn-RS" b="1" dirty="0" err="1">
                <a:solidFill>
                  <a:schemeClr val="accent5">
                    <a:lumMod val="75000"/>
                  </a:schemeClr>
                </a:solidFill>
              </a:rPr>
              <a:t>Level</a:t>
            </a:r>
            <a:r>
              <a:rPr lang="sr-Latn-RS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sr-Latn-RS" b="1" dirty="0" err="1">
                <a:solidFill>
                  <a:schemeClr val="accent5">
                    <a:lumMod val="75000"/>
                  </a:schemeClr>
                </a:solidFill>
              </a:rPr>
              <a:t>Compression</a:t>
            </a:r>
            <a:r>
              <a:rPr lang="sr-Latn-RS" dirty="0"/>
              <a:t> i </a:t>
            </a:r>
            <a:r>
              <a:rPr lang="sr-Latn-RS" b="1" dirty="0" err="1">
                <a:solidFill>
                  <a:schemeClr val="accent5">
                    <a:lumMod val="75000"/>
                  </a:schemeClr>
                </a:solidFill>
              </a:rPr>
              <a:t>Page</a:t>
            </a:r>
            <a:r>
              <a:rPr lang="sr-Latn-RS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sr-Latn-RS" b="1" dirty="0" err="1">
                <a:solidFill>
                  <a:schemeClr val="accent5">
                    <a:lumMod val="75000"/>
                  </a:schemeClr>
                </a:solidFill>
              </a:rPr>
              <a:t>Level</a:t>
            </a:r>
            <a:r>
              <a:rPr lang="sr-Latn-RS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sr-Latn-RS" b="1" dirty="0" err="1">
                <a:solidFill>
                  <a:schemeClr val="accent5">
                    <a:lumMod val="75000"/>
                  </a:schemeClr>
                </a:solidFill>
              </a:rPr>
              <a:t>Compression</a:t>
            </a:r>
            <a:r>
              <a:rPr lang="sr-Latn-RS" dirty="0"/>
              <a:t>.</a:t>
            </a:r>
          </a:p>
          <a:p>
            <a:pPr lvl="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ME" dirty="0"/>
              <a:t>Da bi se koristila kompresija, neophodno je prvo omogućiti. </a:t>
            </a:r>
            <a:endParaRPr lang="sr-Latn-RS" dirty="0"/>
          </a:p>
          <a:p>
            <a:pPr marL="127000" lvl="0" indent="0" algn="l">
              <a:buClr>
                <a:schemeClr val="accent5">
                  <a:lumMod val="75000"/>
                </a:schemeClr>
              </a:buClr>
              <a:buSzPct val="120000"/>
            </a:pPr>
            <a:endParaRPr lang="sr-Latn-RS" dirty="0"/>
          </a:p>
        </p:txBody>
      </p:sp>
      <p:sp>
        <p:nvSpPr>
          <p:cNvPr id="10" name="Google Shape;615;p44">
            <a:extLst>
              <a:ext uri="{FF2B5EF4-FFF2-40B4-BE49-F238E27FC236}">
                <a16:creationId xmlns:a16="http://schemas.microsoft.com/office/drawing/2014/main" id="{CAA40535-46E0-42CB-B10B-4363B1817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424" y="325683"/>
            <a:ext cx="80923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sz="2600" dirty="0"/>
              <a:t>02.05 Kompresija podataka</a:t>
            </a:r>
            <a:endParaRPr sz="2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2ABEED-907E-4007-8097-C1D445C81D1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531010" y="3168000"/>
            <a:ext cx="3715201" cy="1130400"/>
          </a:xfrm>
          <a:prstGeom prst="rect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</a:ln>
        </p:spPr>
      </p:pic>
      <p:sp>
        <p:nvSpPr>
          <p:cNvPr id="5" name="Google Shape;520;p43">
            <a:extLst>
              <a:ext uri="{FF2B5EF4-FFF2-40B4-BE49-F238E27FC236}">
                <a16:creationId xmlns:a16="http://schemas.microsoft.com/office/drawing/2014/main" id="{A5544C93-59DA-4927-A798-7909A023FE5E}"/>
              </a:ext>
            </a:extLst>
          </p:cNvPr>
          <p:cNvSpPr txBox="1">
            <a:spLocks/>
          </p:cNvSpPr>
          <p:nvPr/>
        </p:nvSpPr>
        <p:spPr>
          <a:xfrm>
            <a:off x="3173663" y="4204757"/>
            <a:ext cx="2969895" cy="377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0" indent="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</a:pPr>
            <a:r>
              <a:rPr lang="sr-Latn-ME" sz="1100" dirty="0">
                <a:solidFill>
                  <a:schemeClr val="tx1"/>
                </a:solidFill>
                <a:latin typeface="Voltaire" panose="020B0604020202020204" charset="0"/>
              </a:rPr>
              <a:t>Slika 6, Omogućavanje kompresije podataka</a:t>
            </a:r>
          </a:p>
        </p:txBody>
      </p:sp>
    </p:spTree>
    <p:extLst>
      <p:ext uri="{BB962C8B-B14F-4D97-AF65-F5344CB8AC3E}">
        <p14:creationId xmlns:p14="http://schemas.microsoft.com/office/powerpoint/2010/main" val="30005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20;p43">
            <a:extLst>
              <a:ext uri="{FF2B5EF4-FFF2-40B4-BE49-F238E27FC236}">
                <a16:creationId xmlns:a16="http://schemas.microsoft.com/office/drawing/2014/main" id="{0732AB48-51C4-42EA-94FD-B497D8799FA1}"/>
              </a:ext>
            </a:extLst>
          </p:cNvPr>
          <p:cNvSpPr txBox="1">
            <a:spLocks/>
          </p:cNvSpPr>
          <p:nvPr/>
        </p:nvSpPr>
        <p:spPr>
          <a:xfrm>
            <a:off x="439201" y="898383"/>
            <a:ext cx="7710775" cy="139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412750" indent="-285750" algn="l">
              <a:buFont typeface="Arial" panose="020B0604020202020204" pitchFamily="34" charset="0"/>
              <a:buChar char="•"/>
            </a:pPr>
            <a:r>
              <a:rPr lang="sr-Latn-RS" sz="1400" b="1" i="1" dirty="0" err="1">
                <a:solidFill>
                  <a:schemeClr val="accent5">
                    <a:lumMod val="75000"/>
                  </a:schemeClr>
                </a:solidFill>
              </a:rPr>
              <a:t>Row</a:t>
            </a:r>
            <a:r>
              <a:rPr lang="sr-Latn-RS" sz="1400" b="1" i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sr-Latn-RS" sz="1400" b="1" i="1" dirty="0" err="1">
                <a:solidFill>
                  <a:schemeClr val="accent5">
                    <a:lumMod val="75000"/>
                  </a:schemeClr>
                </a:solidFill>
              </a:rPr>
              <a:t>Level</a:t>
            </a:r>
            <a:r>
              <a:rPr lang="sr-Latn-RS" sz="1400" b="1" i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sr-Latn-RS" sz="1400" b="1" i="1" dirty="0" err="1">
                <a:solidFill>
                  <a:schemeClr val="accent5">
                    <a:lumMod val="75000"/>
                  </a:schemeClr>
                </a:solidFill>
              </a:rPr>
              <a:t>compression</a:t>
            </a:r>
            <a:r>
              <a:rPr lang="sr-Latn-RS" sz="1400" b="1" i="1" dirty="0"/>
              <a:t> </a:t>
            </a:r>
            <a:r>
              <a:rPr lang="sr-Latn-RS" sz="1400" b="1" dirty="0"/>
              <a:t> </a:t>
            </a:r>
            <a:r>
              <a:rPr lang="sr-Latn-RS" sz="1400" dirty="0"/>
              <a:t>predstavlja niži nivo kompresije. Svi tipovi podataka se konvertuju u varijabilne tipove podataka i podaci tako zauzimaju samo onoliko prostora koliko je neophodno. Meta podaci zapisa su redukovani, a NULL i 0 vrednosti su optimizovane tako da ne zauzimaju prostor.</a:t>
            </a:r>
          </a:p>
          <a:p>
            <a:pPr marL="412750" indent="-285750" algn="l">
              <a:buFont typeface="Arial" panose="020B0604020202020204" pitchFamily="34" charset="0"/>
              <a:buChar char="•"/>
            </a:pPr>
            <a:r>
              <a:rPr lang="sr-Latn-RS" sz="1400" b="1" i="1" dirty="0" err="1">
                <a:solidFill>
                  <a:schemeClr val="accent5">
                    <a:lumMod val="75000"/>
                  </a:schemeClr>
                </a:solidFill>
              </a:rPr>
              <a:t>Page</a:t>
            </a:r>
            <a:r>
              <a:rPr lang="sr-Latn-RS" sz="1400" b="1" i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sr-Latn-RS" sz="1400" b="1" i="1" dirty="0" err="1">
                <a:solidFill>
                  <a:schemeClr val="accent5">
                    <a:lumMod val="75000"/>
                  </a:schemeClr>
                </a:solidFill>
              </a:rPr>
              <a:t>Level</a:t>
            </a:r>
            <a:r>
              <a:rPr lang="sr-Latn-RS" sz="1400" b="1" i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sr-Latn-RS" sz="1400" b="1" i="1" dirty="0" err="1">
                <a:solidFill>
                  <a:schemeClr val="accent5">
                    <a:lumMod val="75000"/>
                  </a:schemeClr>
                </a:solidFill>
              </a:rPr>
              <a:t>Compression</a:t>
            </a:r>
            <a:r>
              <a:rPr lang="sr-Latn-RS" sz="1400" b="1" i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sr-Latn-RS" sz="1400" dirty="0"/>
              <a:t>predstavlja viši nivo kompresije i automatski implementira kompresiju na nivou zapisa. Deli se na dva tipa:</a:t>
            </a:r>
          </a:p>
          <a:p>
            <a:pPr marL="869950" lvl="1" indent="-285750">
              <a:buFont typeface="Arial" panose="020B0604020202020204" pitchFamily="34" charset="0"/>
              <a:buChar char="•"/>
            </a:pPr>
            <a:r>
              <a:rPr lang="sr-Latn-RS" sz="1400" b="1" i="1" dirty="0" err="1">
                <a:solidFill>
                  <a:schemeClr val="accent5">
                    <a:lumMod val="75000"/>
                  </a:schemeClr>
                </a:solidFill>
              </a:rPr>
              <a:t>Prefix</a:t>
            </a:r>
            <a:r>
              <a:rPr lang="sr-Latn-RS" sz="1400" b="1" i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sr-Latn-RS" sz="1400" b="1" i="1" dirty="0" err="1">
                <a:solidFill>
                  <a:schemeClr val="accent5">
                    <a:lumMod val="75000"/>
                  </a:schemeClr>
                </a:solidFill>
              </a:rPr>
              <a:t>Compression</a:t>
            </a:r>
            <a:r>
              <a:rPr lang="sr-Latn-RS" sz="1400" b="1" i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sr-Latn-RS" sz="1400" i="1" dirty="0"/>
              <a:t>– </a:t>
            </a:r>
            <a:r>
              <a:rPr lang="sr-Latn-RS" sz="1400" dirty="0"/>
              <a:t>Za svaku stranicu i svaku kolonu u okviru stranice se nalazi zajednička vrednost iz svih zapisa i čuva se u zaglavlju kolone. U svakom zapisu umesto zajedničke vrednosti nalazi se referenca na zajedničku vrednost.</a:t>
            </a:r>
          </a:p>
          <a:p>
            <a:pPr marL="869950" lvl="1" indent="-285750">
              <a:buFont typeface="Arial" panose="020B0604020202020204" pitchFamily="34" charset="0"/>
              <a:buChar char="•"/>
            </a:pPr>
            <a:r>
              <a:rPr lang="sr-Latn-RS" sz="1400" b="1" i="1" dirty="0" err="1">
                <a:solidFill>
                  <a:schemeClr val="accent5">
                    <a:lumMod val="75000"/>
                  </a:schemeClr>
                </a:solidFill>
              </a:rPr>
              <a:t>Dictionary</a:t>
            </a:r>
            <a:r>
              <a:rPr lang="sr-Latn-RS" sz="1400" b="1" i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sr-Latn-RS" sz="1400" b="1" i="1" dirty="0" err="1">
                <a:solidFill>
                  <a:schemeClr val="accent5">
                    <a:lumMod val="75000"/>
                  </a:schemeClr>
                </a:solidFill>
              </a:rPr>
              <a:t>Compression</a:t>
            </a:r>
            <a:r>
              <a:rPr lang="sr-Latn-RS" sz="1400" b="1" i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sr-Latn-RS" sz="1400" i="1" dirty="0"/>
              <a:t>– </a:t>
            </a:r>
            <a:r>
              <a:rPr lang="sr-Latn-RS" sz="1400" dirty="0"/>
              <a:t>Zajedničke vrednosti se preuzimaju iz svih kolona i čuvaju u drugom zapisu nakon zaglavlja. Ova kompresija zahteva tačno podudaranje vrednosti u svim kolonama i zapisima na svakoj stranici. </a:t>
            </a:r>
          </a:p>
          <a:p>
            <a:pPr marL="412750" indent="-285750" algn="l">
              <a:buFont typeface="Arial" panose="020B0604020202020204" pitchFamily="34" charset="0"/>
              <a:buChar char="•"/>
            </a:pPr>
            <a:endParaRPr lang="sr-Latn-RS" sz="1400" dirty="0"/>
          </a:p>
        </p:txBody>
      </p:sp>
      <p:sp>
        <p:nvSpPr>
          <p:cNvPr id="10" name="Google Shape;615;p44">
            <a:extLst>
              <a:ext uri="{FF2B5EF4-FFF2-40B4-BE49-F238E27FC236}">
                <a16:creationId xmlns:a16="http://schemas.microsoft.com/office/drawing/2014/main" id="{CAA40535-46E0-42CB-B10B-4363B1817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424" y="325683"/>
            <a:ext cx="80923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sz="2600" dirty="0"/>
              <a:t>02.05 Kompresija podataka</a:t>
            </a:r>
            <a:endParaRPr sz="2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948ABB-8A8D-49B1-8F94-652D59CF07FA}"/>
              </a:ext>
            </a:extLst>
          </p:cNvPr>
          <p:cNvPicPr/>
          <p:nvPr/>
        </p:nvPicPr>
        <p:blipFill rotWithShape="1">
          <a:blip r:embed="rId2"/>
          <a:srcRect t="2876" r="4427" b="52451"/>
          <a:stretch/>
        </p:blipFill>
        <p:spPr bwMode="auto">
          <a:xfrm>
            <a:off x="35700" y="3567579"/>
            <a:ext cx="3225800" cy="57632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F1A99E-227C-467B-80E9-68DBFEE06732}"/>
              </a:ext>
            </a:extLst>
          </p:cNvPr>
          <p:cNvPicPr/>
          <p:nvPr/>
        </p:nvPicPr>
        <p:blipFill rotWithShape="1">
          <a:blip r:embed="rId3"/>
          <a:srcRect l="-1" r="-197" b="25340"/>
          <a:stretch/>
        </p:blipFill>
        <p:spPr>
          <a:xfrm>
            <a:off x="2959100" y="4097511"/>
            <a:ext cx="3225800" cy="572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5A4DEB-060D-4AA8-86E5-36CA690F5DAC}"/>
              </a:ext>
            </a:extLst>
          </p:cNvPr>
          <p:cNvPicPr/>
          <p:nvPr/>
        </p:nvPicPr>
        <p:blipFill rotWithShape="1">
          <a:blip r:embed="rId4"/>
          <a:srcRect l="1004" b="38549"/>
          <a:stretch/>
        </p:blipFill>
        <p:spPr bwMode="auto">
          <a:xfrm>
            <a:off x="5899189" y="4501113"/>
            <a:ext cx="3129915" cy="51820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064BE3-2989-4623-BCD4-3282084A9475}"/>
              </a:ext>
            </a:extLst>
          </p:cNvPr>
          <p:cNvSpPr txBox="1"/>
          <p:nvPr/>
        </p:nvSpPr>
        <p:spPr>
          <a:xfrm>
            <a:off x="612424" y="4097511"/>
            <a:ext cx="15111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ME" sz="1100" dirty="0">
                <a:latin typeface="Voltaire" panose="020B0604020202020204" charset="0"/>
              </a:rPr>
              <a:t>Slika 7, Bez kompresije</a:t>
            </a:r>
            <a:endParaRPr lang="sr-Latn-RS" sz="1100" dirty="0">
              <a:latin typeface="Voltaire" panose="020B060402020202020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4B63EF-456F-474E-BC09-D30156AF3746}"/>
              </a:ext>
            </a:extLst>
          </p:cNvPr>
          <p:cNvSpPr txBox="1"/>
          <p:nvPr/>
        </p:nvSpPr>
        <p:spPr>
          <a:xfrm>
            <a:off x="3564000" y="4621717"/>
            <a:ext cx="20085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ME" sz="1100" dirty="0">
                <a:latin typeface="Voltaire" panose="020B0604020202020204" charset="0"/>
              </a:rPr>
              <a:t>Slika 8, </a:t>
            </a:r>
            <a:r>
              <a:rPr lang="sr-Latn-ME" sz="1100" dirty="0" err="1">
                <a:latin typeface="Voltaire" panose="020B0604020202020204" charset="0"/>
              </a:rPr>
              <a:t>Row</a:t>
            </a:r>
            <a:r>
              <a:rPr lang="sr-Latn-ME" sz="1100" dirty="0">
                <a:latin typeface="Voltaire" panose="020B0604020202020204" charset="0"/>
              </a:rPr>
              <a:t> </a:t>
            </a:r>
            <a:r>
              <a:rPr lang="sr-Latn-ME" sz="1100" dirty="0" err="1">
                <a:latin typeface="Voltaire" panose="020B0604020202020204" charset="0"/>
              </a:rPr>
              <a:t>level</a:t>
            </a:r>
            <a:r>
              <a:rPr lang="sr-Latn-ME" sz="1100" dirty="0">
                <a:latin typeface="Voltaire" panose="020B0604020202020204" charset="0"/>
              </a:rPr>
              <a:t> </a:t>
            </a:r>
            <a:r>
              <a:rPr lang="sr-Latn-ME" sz="1100" dirty="0" err="1">
                <a:latin typeface="Voltaire" panose="020B0604020202020204" charset="0"/>
              </a:rPr>
              <a:t>compression</a:t>
            </a:r>
            <a:endParaRPr lang="sr-Latn-RS" sz="1100" dirty="0">
              <a:latin typeface="Voltaire" panose="020B060402020202020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AACCA6-3074-4D0A-BDC2-70D8EC56985A}"/>
              </a:ext>
            </a:extLst>
          </p:cNvPr>
          <p:cNvSpPr txBox="1"/>
          <p:nvPr/>
        </p:nvSpPr>
        <p:spPr>
          <a:xfrm>
            <a:off x="6184900" y="4935637"/>
            <a:ext cx="24313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ME" sz="1200" dirty="0">
                <a:latin typeface="Voltaire" panose="020B0604020202020204" charset="0"/>
              </a:rPr>
              <a:t>Slika 9, </a:t>
            </a:r>
            <a:r>
              <a:rPr lang="sr-Latn-ME" sz="1200" dirty="0" err="1">
                <a:latin typeface="Voltaire" panose="020B0604020202020204" charset="0"/>
              </a:rPr>
              <a:t>Page</a:t>
            </a:r>
            <a:r>
              <a:rPr lang="sr-Latn-ME" sz="1200" dirty="0">
                <a:latin typeface="Voltaire" panose="020B0604020202020204" charset="0"/>
              </a:rPr>
              <a:t> </a:t>
            </a:r>
            <a:r>
              <a:rPr lang="sr-Latn-ME" sz="1200" dirty="0" err="1">
                <a:latin typeface="Voltaire" panose="020B0604020202020204" charset="0"/>
              </a:rPr>
              <a:t>level</a:t>
            </a:r>
            <a:r>
              <a:rPr lang="sr-Latn-ME" sz="1200" dirty="0">
                <a:latin typeface="Voltaire" panose="020B0604020202020204" charset="0"/>
              </a:rPr>
              <a:t> </a:t>
            </a:r>
            <a:r>
              <a:rPr lang="sr-Latn-ME" sz="1200" dirty="0" err="1">
                <a:latin typeface="Voltaire" panose="020B0604020202020204" charset="0"/>
              </a:rPr>
              <a:t>compression</a:t>
            </a:r>
            <a:endParaRPr lang="sr-Latn-RS" sz="1200" dirty="0">
              <a:latin typeface="Voltair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3014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20;p43">
            <a:extLst>
              <a:ext uri="{FF2B5EF4-FFF2-40B4-BE49-F238E27FC236}">
                <a16:creationId xmlns:a16="http://schemas.microsoft.com/office/drawing/2014/main" id="{0732AB48-51C4-42EA-94FD-B497D8799FA1}"/>
              </a:ext>
            </a:extLst>
          </p:cNvPr>
          <p:cNvSpPr txBox="1">
            <a:spLocks/>
          </p:cNvSpPr>
          <p:nvPr/>
        </p:nvSpPr>
        <p:spPr>
          <a:xfrm>
            <a:off x="439201" y="760154"/>
            <a:ext cx="7710775" cy="772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412750" indent="-28575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sz="1400" dirty="0"/>
              <a:t>Matematički koncept koji može smanjiti redundantnost i povećati integritet podataka, ukoliko se iskoristi pravilno!</a:t>
            </a:r>
            <a:endParaRPr lang="sr-Latn-RS" sz="1200" dirty="0"/>
          </a:p>
        </p:txBody>
      </p:sp>
      <p:sp>
        <p:nvSpPr>
          <p:cNvPr id="10" name="Google Shape;615;p44">
            <a:extLst>
              <a:ext uri="{FF2B5EF4-FFF2-40B4-BE49-F238E27FC236}">
                <a16:creationId xmlns:a16="http://schemas.microsoft.com/office/drawing/2014/main" id="{CAA40535-46E0-42CB-B10B-4363B1817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424" y="325683"/>
            <a:ext cx="80923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sz="2600" dirty="0"/>
              <a:t>03.01 Normalizacija</a:t>
            </a:r>
            <a:endParaRPr sz="2600" dirty="0"/>
          </a:p>
        </p:txBody>
      </p:sp>
      <p:sp>
        <p:nvSpPr>
          <p:cNvPr id="14" name="Google Shape;520;p43">
            <a:extLst>
              <a:ext uri="{FF2B5EF4-FFF2-40B4-BE49-F238E27FC236}">
                <a16:creationId xmlns:a16="http://schemas.microsoft.com/office/drawing/2014/main" id="{9CDB40B1-6B5B-40B8-A8FA-59788D83FC81}"/>
              </a:ext>
            </a:extLst>
          </p:cNvPr>
          <p:cNvSpPr txBox="1">
            <a:spLocks/>
          </p:cNvSpPr>
          <p:nvPr/>
        </p:nvSpPr>
        <p:spPr>
          <a:xfrm>
            <a:off x="716612" y="1222477"/>
            <a:ext cx="7710775" cy="139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469900" indent="-342900" algn="l">
              <a:buClr>
                <a:schemeClr val="accent5">
                  <a:lumMod val="75000"/>
                </a:schemeClr>
              </a:buClr>
              <a:buSzPct val="120000"/>
              <a:buFont typeface="+mj-lt"/>
              <a:buAutoNum type="arabicPeriod"/>
            </a:pPr>
            <a:r>
              <a:rPr lang="sr-Latn-ME" sz="1400" dirty="0"/>
              <a:t>1NF – jedna </a:t>
            </a:r>
            <a:r>
              <a:rPr lang="sr-Latn-ME" sz="1400" dirty="0" err="1"/>
              <a:t>vrednost</a:t>
            </a:r>
            <a:r>
              <a:rPr lang="sr-Latn-ME" sz="1400" dirty="0"/>
              <a:t> po polju, jedna tabela po skupu povezanih podatka, jedinstveni zapis</a:t>
            </a:r>
          </a:p>
          <a:p>
            <a:pPr marL="469900" indent="-342900" algn="l">
              <a:buClr>
                <a:schemeClr val="accent5">
                  <a:lumMod val="75000"/>
                </a:schemeClr>
              </a:buClr>
              <a:buSzPct val="120000"/>
              <a:buFont typeface="+mj-lt"/>
              <a:buAutoNum type="arabicPeriod"/>
            </a:pPr>
            <a:r>
              <a:rPr lang="sr-Latn-ME" sz="1400" dirty="0"/>
              <a:t>2NF – ispunjena 1NF, svaki atribut zavistan od svakog primarnog ključa (surogat ključevi)</a:t>
            </a:r>
          </a:p>
          <a:p>
            <a:pPr marL="469900" indent="-342900" algn="l">
              <a:buClr>
                <a:schemeClr val="accent5">
                  <a:lumMod val="75000"/>
                </a:schemeClr>
              </a:buClr>
              <a:buSzPct val="120000"/>
              <a:buFont typeface="+mj-lt"/>
              <a:buAutoNum type="arabicPeriod"/>
            </a:pPr>
            <a:r>
              <a:rPr lang="sr-Latn-ME" sz="1400" dirty="0"/>
              <a:t>3NF – ispunjena 2NF, nema </a:t>
            </a:r>
            <a:r>
              <a:rPr lang="sr-Latn-ME" sz="1400" dirty="0" err="1"/>
              <a:t>prelaznih</a:t>
            </a:r>
            <a:r>
              <a:rPr lang="sr-Latn-ME" sz="1400" dirty="0"/>
              <a:t> funkcionalnih zavisnosti</a:t>
            </a:r>
          </a:p>
          <a:p>
            <a:pPr marL="469900" indent="-342900" algn="l">
              <a:buClr>
                <a:schemeClr val="accent5">
                  <a:lumMod val="75000"/>
                </a:schemeClr>
              </a:buClr>
              <a:buSzPct val="120000"/>
              <a:buFont typeface="+mj-lt"/>
              <a:buAutoNum type="arabicPeriod"/>
            </a:pPr>
            <a:r>
              <a:rPr lang="sr-Latn-RS" sz="1400" dirty="0"/>
              <a:t>BCNF, </a:t>
            </a:r>
            <a:r>
              <a:rPr lang="sr-Latn-ME" sz="1400" dirty="0"/>
              <a:t>4NF</a:t>
            </a:r>
            <a:r>
              <a:rPr lang="sr-Latn-RS" sz="1400" dirty="0"/>
              <a:t>, 5NF, 6NF – dodatna ograničenja</a:t>
            </a:r>
            <a:endParaRPr lang="sr-Latn-ME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F2AB3F4-CE67-4E6A-8466-1B06D4E6D65A}"/>
              </a:ext>
            </a:extLst>
          </p:cNvPr>
          <p:cNvPicPr/>
          <p:nvPr/>
        </p:nvPicPr>
        <p:blipFill rotWithShape="1">
          <a:blip r:embed="rId2"/>
          <a:srcRect l="3615" t="23591" r="775" b="2923"/>
          <a:stretch/>
        </p:blipFill>
        <p:spPr bwMode="auto">
          <a:xfrm>
            <a:off x="1785601" y="2309482"/>
            <a:ext cx="5421599" cy="2508335"/>
          </a:xfrm>
          <a:prstGeom prst="rect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Google Shape;520;p43">
            <a:extLst>
              <a:ext uri="{FF2B5EF4-FFF2-40B4-BE49-F238E27FC236}">
                <a16:creationId xmlns:a16="http://schemas.microsoft.com/office/drawing/2014/main" id="{5B6F8F5B-0CE2-4833-8170-35E5F772B991}"/>
              </a:ext>
            </a:extLst>
          </p:cNvPr>
          <p:cNvSpPr txBox="1">
            <a:spLocks/>
          </p:cNvSpPr>
          <p:nvPr/>
        </p:nvSpPr>
        <p:spPr>
          <a:xfrm>
            <a:off x="2491200" y="4708757"/>
            <a:ext cx="4561093" cy="377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0" indent="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</a:pPr>
            <a:r>
              <a:rPr lang="sr-Latn-ME" sz="1100" dirty="0">
                <a:solidFill>
                  <a:schemeClr val="tx1"/>
                </a:solidFill>
                <a:latin typeface="Voltaire" panose="020B0604020202020204" charset="0"/>
              </a:rPr>
              <a:t>Slika 10, Dizajn koji nije normalizovan i svi podaci se čuvaju u jednoj tabeli</a:t>
            </a:r>
          </a:p>
        </p:txBody>
      </p:sp>
    </p:spTree>
    <p:extLst>
      <p:ext uri="{BB962C8B-B14F-4D97-AF65-F5344CB8AC3E}">
        <p14:creationId xmlns:p14="http://schemas.microsoft.com/office/powerpoint/2010/main" val="2620492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15;p44">
            <a:extLst>
              <a:ext uri="{FF2B5EF4-FFF2-40B4-BE49-F238E27FC236}">
                <a16:creationId xmlns:a16="http://schemas.microsoft.com/office/drawing/2014/main" id="{09E607C0-7FA5-4CF8-90DC-40E959C38A89}"/>
              </a:ext>
            </a:extLst>
          </p:cNvPr>
          <p:cNvSpPr txBox="1">
            <a:spLocks/>
          </p:cNvSpPr>
          <p:nvPr/>
        </p:nvSpPr>
        <p:spPr>
          <a:xfrm>
            <a:off x="525812" y="325683"/>
            <a:ext cx="809237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oltaire"/>
              <a:buNone/>
              <a:defRPr sz="2800" b="1" i="0" u="none" strike="noStrike" cap="none">
                <a:solidFill>
                  <a:schemeClr val="dk1"/>
                </a:solidFill>
                <a:latin typeface="Voltaire"/>
                <a:ea typeface="Voltaire"/>
                <a:cs typeface="Voltaire"/>
                <a:sym typeface="Voltair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sr-Latn-ME" sz="2600" dirty="0"/>
              <a:t>03.01 Normalizacija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B96E80-1EC0-47B3-A091-4E5E0C3236C2}"/>
              </a:ext>
            </a:extLst>
          </p:cNvPr>
          <p:cNvPicPr/>
          <p:nvPr/>
        </p:nvPicPr>
        <p:blipFill rotWithShape="1">
          <a:blip r:embed="rId2"/>
          <a:srcRect r="4166" b="11970"/>
          <a:stretch/>
        </p:blipFill>
        <p:spPr bwMode="auto">
          <a:xfrm>
            <a:off x="525812" y="1262091"/>
            <a:ext cx="3848100" cy="1629410"/>
          </a:xfrm>
          <a:prstGeom prst="rect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D4390B-EFC3-40D1-AC0A-9B06D23FDFD3}"/>
              </a:ext>
            </a:extLst>
          </p:cNvPr>
          <p:cNvPicPr/>
          <p:nvPr/>
        </p:nvPicPr>
        <p:blipFill rotWithShape="1">
          <a:blip r:embed="rId3"/>
          <a:srcRect l="831"/>
          <a:stretch/>
        </p:blipFill>
        <p:spPr bwMode="auto">
          <a:xfrm>
            <a:off x="525812" y="3255209"/>
            <a:ext cx="3848100" cy="1367190"/>
          </a:xfrm>
          <a:prstGeom prst="rect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51AD59-CE70-479C-9ED6-75A1CDBBA4A3}"/>
              </a:ext>
            </a:extLst>
          </p:cNvPr>
          <p:cNvPicPr/>
          <p:nvPr/>
        </p:nvPicPr>
        <p:blipFill rotWithShape="1">
          <a:blip r:embed="rId4"/>
          <a:srcRect t="-79" r="289" b="10161"/>
          <a:stretch/>
        </p:blipFill>
        <p:spPr bwMode="auto">
          <a:xfrm>
            <a:off x="4747740" y="1814400"/>
            <a:ext cx="3783780" cy="1990620"/>
          </a:xfrm>
          <a:prstGeom prst="rect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Google Shape;520;p43">
            <a:extLst>
              <a:ext uri="{FF2B5EF4-FFF2-40B4-BE49-F238E27FC236}">
                <a16:creationId xmlns:a16="http://schemas.microsoft.com/office/drawing/2014/main" id="{F32D8CBE-5C11-4F53-A5E4-BB417CD1748D}"/>
              </a:ext>
            </a:extLst>
          </p:cNvPr>
          <p:cNvSpPr txBox="1">
            <a:spLocks/>
          </p:cNvSpPr>
          <p:nvPr/>
        </p:nvSpPr>
        <p:spPr>
          <a:xfrm>
            <a:off x="1294367" y="2809710"/>
            <a:ext cx="3079545" cy="379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0" indent="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</a:pPr>
            <a:r>
              <a:rPr lang="sr-Latn-ME" sz="1100" dirty="0">
                <a:solidFill>
                  <a:schemeClr val="tx1"/>
                </a:solidFill>
                <a:latin typeface="Voltaire" panose="020B0604020202020204" charset="0"/>
              </a:rPr>
              <a:t>Slika 11, Tabela </a:t>
            </a:r>
            <a:r>
              <a:rPr lang="sr-Latn-ME" sz="1100" i="1" dirty="0" err="1">
                <a:solidFill>
                  <a:schemeClr val="tx1"/>
                </a:solidFill>
                <a:latin typeface="Voltaire" panose="020B0604020202020204" charset="0"/>
              </a:rPr>
              <a:t>Equipment</a:t>
            </a:r>
            <a:r>
              <a:rPr lang="sr-Latn-ME" sz="1100" i="1" dirty="0">
                <a:solidFill>
                  <a:schemeClr val="tx1"/>
                </a:solidFill>
                <a:latin typeface="Voltaire" panose="020B0604020202020204" charset="0"/>
              </a:rPr>
              <a:t>  </a:t>
            </a:r>
            <a:r>
              <a:rPr lang="sr-Latn-ME" sz="1100" dirty="0">
                <a:solidFill>
                  <a:schemeClr val="tx1"/>
                </a:solidFill>
                <a:latin typeface="Voltaire" panose="020B0604020202020204" charset="0"/>
              </a:rPr>
              <a:t>nakon normalizacije</a:t>
            </a:r>
          </a:p>
        </p:txBody>
      </p:sp>
      <p:sp>
        <p:nvSpPr>
          <p:cNvPr id="10" name="Google Shape;520;p43">
            <a:extLst>
              <a:ext uri="{FF2B5EF4-FFF2-40B4-BE49-F238E27FC236}">
                <a16:creationId xmlns:a16="http://schemas.microsoft.com/office/drawing/2014/main" id="{25B69C69-B492-4221-82CD-D1E3A5967F3E}"/>
              </a:ext>
            </a:extLst>
          </p:cNvPr>
          <p:cNvSpPr txBox="1">
            <a:spLocks/>
          </p:cNvSpPr>
          <p:nvPr/>
        </p:nvSpPr>
        <p:spPr>
          <a:xfrm>
            <a:off x="1294366" y="4547274"/>
            <a:ext cx="3079545" cy="379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0" indent="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</a:pPr>
            <a:r>
              <a:rPr lang="sr-Latn-ME" sz="1100" dirty="0">
                <a:solidFill>
                  <a:schemeClr val="tx1"/>
                </a:solidFill>
                <a:latin typeface="Voltaire" panose="020B0604020202020204" charset="0"/>
              </a:rPr>
              <a:t>Slika 12, Tabela </a:t>
            </a:r>
            <a:r>
              <a:rPr lang="sr-Latn-ME" sz="1100" i="1" dirty="0" err="1">
                <a:solidFill>
                  <a:schemeClr val="tx1"/>
                </a:solidFill>
                <a:latin typeface="Voltaire" panose="020B0604020202020204" charset="0"/>
              </a:rPr>
              <a:t>Customers</a:t>
            </a:r>
            <a:r>
              <a:rPr lang="sr-Latn-ME" sz="1100" i="1" dirty="0">
                <a:solidFill>
                  <a:schemeClr val="tx1"/>
                </a:solidFill>
                <a:latin typeface="Voltaire" panose="020B0604020202020204" charset="0"/>
              </a:rPr>
              <a:t>  </a:t>
            </a:r>
            <a:r>
              <a:rPr lang="sr-Latn-ME" sz="1100" dirty="0">
                <a:solidFill>
                  <a:schemeClr val="tx1"/>
                </a:solidFill>
                <a:latin typeface="Voltaire" panose="020B0604020202020204" charset="0"/>
              </a:rPr>
              <a:t>nakon normalizacije</a:t>
            </a:r>
          </a:p>
        </p:txBody>
      </p:sp>
      <p:sp>
        <p:nvSpPr>
          <p:cNvPr id="13" name="Google Shape;520;p43">
            <a:extLst>
              <a:ext uri="{FF2B5EF4-FFF2-40B4-BE49-F238E27FC236}">
                <a16:creationId xmlns:a16="http://schemas.microsoft.com/office/drawing/2014/main" id="{444325E6-9689-4B7A-9474-5E5B807BC6C4}"/>
              </a:ext>
            </a:extLst>
          </p:cNvPr>
          <p:cNvSpPr txBox="1">
            <a:spLocks/>
          </p:cNvSpPr>
          <p:nvPr/>
        </p:nvSpPr>
        <p:spPr>
          <a:xfrm>
            <a:off x="5451975" y="3696510"/>
            <a:ext cx="3079545" cy="379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0" indent="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</a:pPr>
            <a:r>
              <a:rPr lang="sr-Latn-ME" sz="1100" dirty="0">
                <a:solidFill>
                  <a:schemeClr val="tx1"/>
                </a:solidFill>
                <a:latin typeface="Voltaire" panose="020B0604020202020204" charset="0"/>
              </a:rPr>
              <a:t>Slika 13, Tabela </a:t>
            </a:r>
            <a:r>
              <a:rPr lang="sr-Latn-ME" sz="1100" i="1" dirty="0" err="1">
                <a:solidFill>
                  <a:schemeClr val="tx1"/>
                </a:solidFill>
                <a:latin typeface="Voltaire" panose="020B0604020202020204" charset="0"/>
              </a:rPr>
              <a:t>Rentals</a:t>
            </a:r>
            <a:r>
              <a:rPr lang="sr-Latn-ME" sz="1100" i="1" dirty="0">
                <a:solidFill>
                  <a:schemeClr val="tx1"/>
                </a:solidFill>
                <a:latin typeface="Voltaire" panose="020B0604020202020204" charset="0"/>
              </a:rPr>
              <a:t>  </a:t>
            </a:r>
            <a:r>
              <a:rPr lang="sr-Latn-ME" sz="1100" dirty="0">
                <a:solidFill>
                  <a:schemeClr val="tx1"/>
                </a:solidFill>
                <a:latin typeface="Voltaire" panose="020B0604020202020204" charset="0"/>
              </a:rPr>
              <a:t>nakon normalizacije</a:t>
            </a:r>
          </a:p>
        </p:txBody>
      </p:sp>
    </p:spTree>
    <p:extLst>
      <p:ext uri="{BB962C8B-B14F-4D97-AF65-F5344CB8AC3E}">
        <p14:creationId xmlns:p14="http://schemas.microsoft.com/office/powerpoint/2010/main" val="1274175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20;p43">
            <a:extLst>
              <a:ext uri="{FF2B5EF4-FFF2-40B4-BE49-F238E27FC236}">
                <a16:creationId xmlns:a16="http://schemas.microsoft.com/office/drawing/2014/main" id="{0732AB48-51C4-42EA-94FD-B497D8799FA1}"/>
              </a:ext>
            </a:extLst>
          </p:cNvPr>
          <p:cNvSpPr txBox="1">
            <a:spLocks/>
          </p:cNvSpPr>
          <p:nvPr/>
        </p:nvSpPr>
        <p:spPr>
          <a:xfrm>
            <a:off x="439200" y="785841"/>
            <a:ext cx="7710775" cy="139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r>
              <a:rPr lang="sr-Latn-RS" sz="1400" b="1" dirty="0">
                <a:solidFill>
                  <a:schemeClr val="accent5">
                    <a:lumMod val="75000"/>
                  </a:schemeClr>
                </a:solidFill>
              </a:rPr>
              <a:t>NULL</a:t>
            </a:r>
            <a:r>
              <a:rPr lang="sr-Latn-RS" sz="1400" dirty="0"/>
              <a:t> – oznaka za odsustvo neke vrednosti u bazi podataka je </a:t>
            </a:r>
            <a:r>
              <a:rPr lang="sr-Latn-RS" sz="1400" i="1" dirty="0" err="1"/>
              <a:t>null</a:t>
            </a:r>
            <a:r>
              <a:rPr lang="sr-Latn-RS" sz="1400" i="1" dirty="0"/>
              <a:t>. </a:t>
            </a:r>
            <a:r>
              <a:rPr lang="sr-Latn-RS" sz="1400" dirty="0"/>
              <a:t>Vrednost može biti odsutna jer nije dostupna ili je neprimenljiva. </a:t>
            </a:r>
            <a:r>
              <a:rPr lang="sr-Latn-RS" sz="1400" b="1" dirty="0"/>
              <a:t>3VL</a:t>
            </a:r>
            <a:r>
              <a:rPr lang="sr-Latn-RS" sz="1400" dirty="0"/>
              <a:t> – </a:t>
            </a:r>
            <a:r>
              <a:rPr lang="sr-Latn-RS" sz="1400" b="1" i="1" dirty="0" err="1"/>
              <a:t>Three</a:t>
            </a:r>
            <a:r>
              <a:rPr lang="sr-Latn-RS" sz="1400" b="1" i="1" dirty="0"/>
              <a:t> </a:t>
            </a:r>
            <a:r>
              <a:rPr lang="sr-Latn-RS" sz="1400" b="1" i="1" dirty="0" err="1"/>
              <a:t>Value</a:t>
            </a:r>
            <a:r>
              <a:rPr lang="sr-Latn-RS" sz="1400" b="1" i="1" dirty="0"/>
              <a:t> </a:t>
            </a:r>
            <a:r>
              <a:rPr lang="sr-Latn-RS" sz="1400" b="1" i="1" dirty="0" err="1"/>
              <a:t>Logic</a:t>
            </a:r>
            <a:r>
              <a:rPr lang="sr-Latn-RS" sz="1400" i="1" dirty="0"/>
              <a:t> – </a:t>
            </a:r>
            <a:r>
              <a:rPr lang="sr-Latn-RS" sz="1400" dirty="0"/>
              <a:t>pored </a:t>
            </a:r>
            <a:r>
              <a:rPr lang="sr-Latn-RS" sz="1400" b="1" i="1" dirty="0" err="1"/>
              <a:t>true</a:t>
            </a:r>
            <a:r>
              <a:rPr lang="sr-Latn-RS" sz="1400" b="1" dirty="0"/>
              <a:t> </a:t>
            </a:r>
            <a:r>
              <a:rPr lang="sr-Latn-RS" sz="1400" dirty="0"/>
              <a:t>i </a:t>
            </a:r>
            <a:r>
              <a:rPr lang="sr-Latn-RS" sz="1400" b="1" i="1" dirty="0" err="1"/>
              <a:t>false</a:t>
            </a:r>
            <a:r>
              <a:rPr lang="sr-Latn-RS" sz="1400" dirty="0"/>
              <a:t>¸ postoji i </a:t>
            </a:r>
            <a:r>
              <a:rPr lang="sr-Latn-RS" sz="1400" b="1" i="1" dirty="0" err="1"/>
              <a:t>unknown</a:t>
            </a:r>
            <a:r>
              <a:rPr lang="sr-Latn-RS" sz="1400" b="1" dirty="0"/>
              <a:t> </a:t>
            </a:r>
            <a:r>
              <a:rPr lang="sr-Latn-RS" sz="1400" dirty="0"/>
              <a:t>kao rezultat logičkog izraza. To je posledica postojanja </a:t>
            </a:r>
            <a:r>
              <a:rPr lang="sr-Latn-RS" sz="1400" i="1" dirty="0" err="1"/>
              <a:t>null</a:t>
            </a:r>
            <a:r>
              <a:rPr lang="sr-Latn-RS" sz="1400" i="1" dirty="0"/>
              <a:t> </a:t>
            </a:r>
            <a:r>
              <a:rPr lang="sr-Latn-RS" sz="1400" dirty="0"/>
              <a:t>vrednosti za označavanje odsustva podataka. Ukoliko </a:t>
            </a:r>
            <a:r>
              <a:rPr lang="sr-Latn-RS" sz="1400" i="1" dirty="0" err="1"/>
              <a:t>null</a:t>
            </a:r>
            <a:r>
              <a:rPr lang="sr-Latn-RS" sz="1400" i="1" dirty="0"/>
              <a:t> </a:t>
            </a:r>
            <a:r>
              <a:rPr lang="sr-Latn-RS" sz="1400" dirty="0"/>
              <a:t>vrednost utiče na logički izraz, njegov rezultat će biti </a:t>
            </a:r>
            <a:r>
              <a:rPr lang="sr-Latn-RS" sz="1400" b="1" i="1" dirty="0" err="1"/>
              <a:t>unknown</a:t>
            </a:r>
            <a:r>
              <a:rPr lang="sr-Latn-RS" sz="1400" b="1" i="1" dirty="0"/>
              <a:t>.</a:t>
            </a:r>
            <a:endParaRPr lang="sr-Latn-RS" sz="1200" dirty="0"/>
          </a:p>
        </p:txBody>
      </p:sp>
      <p:sp>
        <p:nvSpPr>
          <p:cNvPr id="10" name="Google Shape;615;p44">
            <a:extLst>
              <a:ext uri="{FF2B5EF4-FFF2-40B4-BE49-F238E27FC236}">
                <a16:creationId xmlns:a16="http://schemas.microsoft.com/office/drawing/2014/main" id="{CAA40535-46E0-42CB-B10B-4363B1817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5812" y="325683"/>
            <a:ext cx="80923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sz="2400" dirty="0"/>
              <a:t>03.02.01 Ograničenja – </a:t>
            </a:r>
            <a:r>
              <a:rPr lang="sr-Latn-ME" sz="2400" dirty="0" err="1"/>
              <a:t>Null</a:t>
            </a:r>
            <a:r>
              <a:rPr lang="sr-Latn-ME" sz="2400" dirty="0"/>
              <a:t>, </a:t>
            </a:r>
            <a:r>
              <a:rPr lang="sr-Latn-ME" sz="2400" dirty="0" err="1"/>
              <a:t>Default</a:t>
            </a:r>
            <a:r>
              <a:rPr lang="sr-Latn-ME" sz="2400" dirty="0"/>
              <a:t>, </a:t>
            </a:r>
            <a:r>
              <a:rPr lang="sr-Latn-ME" sz="2400" dirty="0" err="1"/>
              <a:t>Unique</a:t>
            </a:r>
            <a:r>
              <a:rPr lang="sr-Latn-ME" sz="2400" dirty="0"/>
              <a:t>, </a:t>
            </a:r>
            <a:r>
              <a:rPr lang="sr-Latn-ME" sz="2400" dirty="0" err="1"/>
              <a:t>Check</a:t>
            </a:r>
            <a:r>
              <a:rPr lang="sr-Latn-ME" sz="2400" dirty="0"/>
              <a:t>, </a:t>
            </a:r>
            <a:r>
              <a:rPr lang="sr-Latn-ME" sz="2400" dirty="0" err="1"/>
              <a:t>Foreign</a:t>
            </a:r>
            <a:r>
              <a:rPr lang="sr-Latn-ME" sz="2400" dirty="0"/>
              <a:t> </a:t>
            </a:r>
            <a:r>
              <a:rPr lang="sr-Latn-ME" sz="2400" dirty="0" err="1"/>
              <a:t>Key</a:t>
            </a:r>
            <a:endParaRPr sz="2400" dirty="0"/>
          </a:p>
        </p:txBody>
      </p:sp>
      <p:sp>
        <p:nvSpPr>
          <p:cNvPr id="4" name="Google Shape;520;p43">
            <a:extLst>
              <a:ext uri="{FF2B5EF4-FFF2-40B4-BE49-F238E27FC236}">
                <a16:creationId xmlns:a16="http://schemas.microsoft.com/office/drawing/2014/main" id="{96F2FF34-987A-4BAC-9080-C1FB2B79FFBA}"/>
              </a:ext>
            </a:extLst>
          </p:cNvPr>
          <p:cNvSpPr txBox="1">
            <a:spLocks/>
          </p:cNvSpPr>
          <p:nvPr/>
        </p:nvSpPr>
        <p:spPr>
          <a:xfrm>
            <a:off x="439198" y="1867106"/>
            <a:ext cx="7710775" cy="840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r>
              <a:rPr lang="sr-Latn-RS" sz="1400" b="1" dirty="0">
                <a:solidFill>
                  <a:schemeClr val="accent5">
                    <a:lumMod val="75000"/>
                  </a:schemeClr>
                </a:solidFill>
              </a:rPr>
              <a:t>DEFAULT</a:t>
            </a:r>
            <a:r>
              <a:rPr lang="sr-Latn-RS" sz="1400" dirty="0"/>
              <a:t> – za obezbeđivanje podrazumevane vrednosti neke kolone. </a:t>
            </a:r>
            <a:r>
              <a:rPr lang="sr-Latn-RS" sz="1400" i="1" dirty="0" err="1"/>
              <a:t>Default</a:t>
            </a:r>
            <a:r>
              <a:rPr lang="sr-Latn-RS" sz="1400" i="1" dirty="0"/>
              <a:t> </a:t>
            </a:r>
            <a:r>
              <a:rPr lang="sr-Latn-RS" sz="1400" dirty="0"/>
              <a:t>vrednosti mogu biti konstante, poput stringova ili brojeva, ali mogu biti i pozivi funkcija.</a:t>
            </a:r>
            <a:endParaRPr lang="sr-Latn-RS" sz="1200" dirty="0"/>
          </a:p>
        </p:txBody>
      </p:sp>
      <p:sp>
        <p:nvSpPr>
          <p:cNvPr id="5" name="Google Shape;520;p43">
            <a:extLst>
              <a:ext uri="{FF2B5EF4-FFF2-40B4-BE49-F238E27FC236}">
                <a16:creationId xmlns:a16="http://schemas.microsoft.com/office/drawing/2014/main" id="{F08D860B-DBD1-498C-B694-F42117F97EF0}"/>
              </a:ext>
            </a:extLst>
          </p:cNvPr>
          <p:cNvSpPr txBox="1">
            <a:spLocks/>
          </p:cNvSpPr>
          <p:nvPr/>
        </p:nvSpPr>
        <p:spPr>
          <a:xfrm>
            <a:off x="439196" y="2628296"/>
            <a:ext cx="7710775" cy="920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r>
              <a:rPr lang="sr-Latn-RS" sz="1400" b="1" dirty="0">
                <a:solidFill>
                  <a:schemeClr val="accent5">
                    <a:lumMod val="75000"/>
                  </a:schemeClr>
                </a:solidFill>
              </a:rPr>
              <a:t>UNIQUE</a:t>
            </a:r>
            <a:r>
              <a:rPr lang="sr-Latn-RS" sz="1400" dirty="0"/>
              <a:t> – obezbeđuje da u tabeli ne postoji ponavljanje vrednosti kolona, nezavisno od primarnog ključa. Razlika u odnosu na primarni ključ je ta što </a:t>
            </a:r>
            <a:r>
              <a:rPr lang="sr-Latn-RS" sz="1400" i="1" dirty="0" err="1"/>
              <a:t>Unique</a:t>
            </a:r>
            <a:r>
              <a:rPr lang="sr-Latn-RS" sz="1400" i="1" dirty="0"/>
              <a:t> </a:t>
            </a:r>
            <a:r>
              <a:rPr lang="sr-Latn-RS" sz="1400" dirty="0"/>
              <a:t>ograničenje dozvoljava vrednost </a:t>
            </a:r>
            <a:r>
              <a:rPr lang="sr-Latn-RS" sz="1400" i="1" dirty="0" err="1"/>
              <a:t>null</a:t>
            </a:r>
            <a:r>
              <a:rPr lang="sr-Latn-RS" sz="1400" i="1" dirty="0"/>
              <a:t>.</a:t>
            </a:r>
            <a:endParaRPr lang="sr-Latn-RS" sz="1200" dirty="0"/>
          </a:p>
        </p:txBody>
      </p:sp>
      <p:sp>
        <p:nvSpPr>
          <p:cNvPr id="6" name="Google Shape;520;p43">
            <a:extLst>
              <a:ext uri="{FF2B5EF4-FFF2-40B4-BE49-F238E27FC236}">
                <a16:creationId xmlns:a16="http://schemas.microsoft.com/office/drawing/2014/main" id="{89CB67E9-D320-48BB-8384-42DE641C9F9C}"/>
              </a:ext>
            </a:extLst>
          </p:cNvPr>
          <p:cNvSpPr txBox="1">
            <a:spLocks/>
          </p:cNvSpPr>
          <p:nvPr/>
        </p:nvSpPr>
        <p:spPr>
          <a:xfrm>
            <a:off x="439195" y="3548813"/>
            <a:ext cx="7710775" cy="663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r>
              <a:rPr lang="sr-Latn-RS" sz="1400" b="1" dirty="0">
                <a:solidFill>
                  <a:schemeClr val="accent5">
                    <a:lumMod val="75000"/>
                  </a:schemeClr>
                </a:solidFill>
              </a:rPr>
              <a:t>CHECK</a:t>
            </a:r>
            <a:r>
              <a:rPr lang="sr-Latn-RS" sz="1400" dirty="0"/>
              <a:t> – je način za postavljanje graničnih vrednosti i validacije podataka prilikom unosa u tabelu ili ažuriranja tabele.</a:t>
            </a:r>
            <a:r>
              <a:rPr lang="sr-Latn-RS" sz="1400" i="1" dirty="0"/>
              <a:t> </a:t>
            </a:r>
            <a:r>
              <a:rPr lang="sr-Latn-RS" sz="1400" dirty="0"/>
              <a:t>Deo je same definicije tabele.</a:t>
            </a:r>
          </a:p>
        </p:txBody>
      </p:sp>
      <p:sp>
        <p:nvSpPr>
          <p:cNvPr id="7" name="Google Shape;520;p43">
            <a:extLst>
              <a:ext uri="{FF2B5EF4-FFF2-40B4-BE49-F238E27FC236}">
                <a16:creationId xmlns:a16="http://schemas.microsoft.com/office/drawing/2014/main" id="{004B1931-7145-4663-88CB-4CBC0E83EFA1}"/>
              </a:ext>
            </a:extLst>
          </p:cNvPr>
          <p:cNvSpPr txBox="1">
            <a:spLocks/>
          </p:cNvSpPr>
          <p:nvPr/>
        </p:nvSpPr>
        <p:spPr>
          <a:xfrm>
            <a:off x="439194" y="4212000"/>
            <a:ext cx="7710775" cy="663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r>
              <a:rPr lang="sr-Latn-RS" sz="1400" b="1" dirty="0">
                <a:solidFill>
                  <a:schemeClr val="accent5">
                    <a:lumMod val="75000"/>
                  </a:schemeClr>
                </a:solidFill>
              </a:rPr>
              <a:t>FOREIGN_KEY</a:t>
            </a:r>
            <a:r>
              <a:rPr lang="sr-Latn-RS" sz="1400" dirty="0"/>
              <a:t> – je način za građenje veze između dve tabele. Uspostavlja se referenciranjem primarnog ili </a:t>
            </a:r>
            <a:r>
              <a:rPr lang="sr-Latn-RS" sz="1400" i="1" dirty="0" err="1"/>
              <a:t>unique</a:t>
            </a:r>
            <a:r>
              <a:rPr lang="sr-Latn-RS" sz="1400" i="1" dirty="0"/>
              <a:t> </a:t>
            </a:r>
            <a:r>
              <a:rPr lang="sr-Latn-RS" sz="1400" dirty="0"/>
              <a:t>ključa iz neke tabele. Strani ključ pomaže i održanju referencijalnog integriteta.</a:t>
            </a:r>
          </a:p>
        </p:txBody>
      </p:sp>
    </p:spTree>
    <p:extLst>
      <p:ext uri="{BB962C8B-B14F-4D97-AF65-F5344CB8AC3E}">
        <p14:creationId xmlns:p14="http://schemas.microsoft.com/office/powerpoint/2010/main" val="19784917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20;p43">
            <a:extLst>
              <a:ext uri="{FF2B5EF4-FFF2-40B4-BE49-F238E27FC236}">
                <a16:creationId xmlns:a16="http://schemas.microsoft.com/office/drawing/2014/main" id="{0732AB48-51C4-42EA-94FD-B497D8799FA1}"/>
              </a:ext>
            </a:extLst>
          </p:cNvPr>
          <p:cNvSpPr txBox="1">
            <a:spLocks/>
          </p:cNvSpPr>
          <p:nvPr/>
        </p:nvSpPr>
        <p:spPr>
          <a:xfrm>
            <a:off x="439201" y="898383"/>
            <a:ext cx="7710775" cy="757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412750" indent="-28575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b="1" dirty="0">
                <a:solidFill>
                  <a:schemeClr val="accent5">
                    <a:lumMod val="75000"/>
                  </a:schemeClr>
                </a:solidFill>
              </a:rPr>
              <a:t>PRIMARY_KEY </a:t>
            </a:r>
            <a:r>
              <a:rPr lang="sr-Latn-RS" b="1" dirty="0">
                <a:solidFill>
                  <a:schemeClr val="tx1"/>
                </a:solidFill>
              </a:rPr>
              <a:t>- </a:t>
            </a:r>
            <a:r>
              <a:rPr lang="sr-Latn-RS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sr-Latn-RS" dirty="0"/>
              <a:t>obezbeđuje jedinstvenost. SQL Server implementira ovo ograničenje uz podršku indeksa (klasterovani i neklasterovani).</a:t>
            </a:r>
            <a:endParaRPr lang="sr-Latn-RS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Google Shape;615;p44">
            <a:extLst>
              <a:ext uri="{FF2B5EF4-FFF2-40B4-BE49-F238E27FC236}">
                <a16:creationId xmlns:a16="http://schemas.microsoft.com/office/drawing/2014/main" id="{CAA40535-46E0-42CB-B10B-4363B1817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5812" y="325683"/>
            <a:ext cx="80923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sz="2400" dirty="0"/>
              <a:t>03.02.01 Ograničenja – </a:t>
            </a:r>
            <a:r>
              <a:rPr lang="sr-Latn-ME" sz="2400" dirty="0" err="1"/>
              <a:t>Clustered</a:t>
            </a:r>
            <a:r>
              <a:rPr lang="sr-Latn-ME" sz="2400" dirty="0"/>
              <a:t> </a:t>
            </a:r>
            <a:r>
              <a:rPr lang="sr-Latn-ME" sz="2400" dirty="0" err="1"/>
              <a:t>Index</a:t>
            </a:r>
            <a:r>
              <a:rPr lang="sr-Latn-ME" sz="2400" dirty="0"/>
              <a:t>, </a:t>
            </a:r>
            <a:r>
              <a:rPr lang="sr-Latn-ME" sz="2400" dirty="0" err="1"/>
              <a:t>Heap</a:t>
            </a:r>
            <a:r>
              <a:rPr lang="sr-Latn-ME" sz="2400" dirty="0"/>
              <a:t>, </a:t>
            </a:r>
            <a:r>
              <a:rPr lang="sr-Latn-ME" sz="2400" dirty="0" err="1"/>
              <a:t>Non-clustered</a:t>
            </a:r>
            <a:r>
              <a:rPr lang="sr-Latn-ME" sz="2400" dirty="0"/>
              <a:t> </a:t>
            </a:r>
            <a:r>
              <a:rPr lang="sr-Latn-ME" sz="2400" dirty="0" err="1"/>
              <a:t>Index</a:t>
            </a:r>
            <a:endParaRPr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4F1DCD-3461-4271-B350-BD38370106A0}"/>
              </a:ext>
            </a:extLst>
          </p:cNvPr>
          <p:cNvPicPr/>
          <p:nvPr/>
        </p:nvPicPr>
        <p:blipFill rotWithShape="1">
          <a:blip r:embed="rId2"/>
          <a:srcRect l="2331" t="7598" r="2078" b="4753"/>
          <a:stretch/>
        </p:blipFill>
        <p:spPr bwMode="auto">
          <a:xfrm>
            <a:off x="1098362" y="1741197"/>
            <a:ext cx="6814438" cy="2838003"/>
          </a:xfrm>
          <a:prstGeom prst="rect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Google Shape;520;p43">
            <a:extLst>
              <a:ext uri="{FF2B5EF4-FFF2-40B4-BE49-F238E27FC236}">
                <a16:creationId xmlns:a16="http://schemas.microsoft.com/office/drawing/2014/main" id="{233E9068-7AE4-4B96-B6B8-AE540673A3D0}"/>
              </a:ext>
            </a:extLst>
          </p:cNvPr>
          <p:cNvSpPr txBox="1">
            <a:spLocks/>
          </p:cNvSpPr>
          <p:nvPr/>
        </p:nvSpPr>
        <p:spPr>
          <a:xfrm>
            <a:off x="2423313" y="4579200"/>
            <a:ext cx="4426971" cy="379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0" indent="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</a:pPr>
            <a:r>
              <a:rPr lang="sr-Latn-ME" sz="1100" dirty="0">
                <a:solidFill>
                  <a:schemeClr val="tx1"/>
                </a:solidFill>
                <a:latin typeface="Voltaire" panose="020B0604020202020204" charset="0"/>
              </a:rPr>
              <a:t>Slika 14, Ilustracija klasterovanog indeksa, </a:t>
            </a:r>
            <a:r>
              <a:rPr lang="sr-Latn-ME" sz="1100" dirty="0" err="1">
                <a:solidFill>
                  <a:schemeClr val="tx1"/>
                </a:solidFill>
                <a:latin typeface="Voltaire" panose="020B0604020202020204" charset="0"/>
              </a:rPr>
              <a:t>heap</a:t>
            </a:r>
            <a:r>
              <a:rPr lang="sr-Latn-ME" sz="1100" dirty="0">
                <a:solidFill>
                  <a:schemeClr val="tx1"/>
                </a:solidFill>
                <a:latin typeface="Voltaire" panose="020B0604020202020204" charset="0"/>
              </a:rPr>
              <a:t>-a i </a:t>
            </a:r>
            <a:r>
              <a:rPr lang="sr-Latn-ME" sz="1100" dirty="0" err="1">
                <a:solidFill>
                  <a:schemeClr val="tx1"/>
                </a:solidFill>
                <a:latin typeface="Voltaire" panose="020B0604020202020204" charset="0"/>
              </a:rPr>
              <a:t>neklasterovanog</a:t>
            </a:r>
            <a:r>
              <a:rPr lang="sr-Latn-ME" sz="1100" dirty="0">
                <a:solidFill>
                  <a:schemeClr val="tx1"/>
                </a:solidFill>
                <a:latin typeface="Voltaire" panose="020B0604020202020204" charset="0"/>
              </a:rPr>
              <a:t> indeksa</a:t>
            </a:r>
          </a:p>
        </p:txBody>
      </p:sp>
    </p:spTree>
    <p:extLst>
      <p:ext uri="{BB962C8B-B14F-4D97-AF65-F5344CB8AC3E}">
        <p14:creationId xmlns:p14="http://schemas.microsoft.com/office/powerpoint/2010/main" val="3594614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20;p43">
            <a:extLst>
              <a:ext uri="{FF2B5EF4-FFF2-40B4-BE49-F238E27FC236}">
                <a16:creationId xmlns:a16="http://schemas.microsoft.com/office/drawing/2014/main" id="{0732AB48-51C4-42EA-94FD-B497D8799FA1}"/>
              </a:ext>
            </a:extLst>
          </p:cNvPr>
          <p:cNvSpPr txBox="1">
            <a:spLocks/>
          </p:cNvSpPr>
          <p:nvPr/>
        </p:nvSpPr>
        <p:spPr>
          <a:xfrm>
            <a:off x="439201" y="898383"/>
            <a:ext cx="7710775" cy="757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412750" indent="-28575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b="1" dirty="0" err="1">
                <a:solidFill>
                  <a:schemeClr val="accent5">
                    <a:lumMod val="75000"/>
                  </a:schemeClr>
                </a:solidFill>
              </a:rPr>
              <a:t>Clustered</a:t>
            </a:r>
            <a:r>
              <a:rPr lang="sr-Latn-RS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sr-Latn-RS" b="1" dirty="0" err="1">
                <a:solidFill>
                  <a:schemeClr val="accent5">
                    <a:lumMod val="75000"/>
                  </a:schemeClr>
                </a:solidFill>
              </a:rPr>
              <a:t>Index</a:t>
            </a:r>
            <a:r>
              <a:rPr lang="sr-Latn-RS" b="1" dirty="0">
                <a:solidFill>
                  <a:schemeClr val="accent5">
                    <a:lumMod val="75000"/>
                  </a:schemeClr>
                </a:solidFill>
              </a:rPr>
              <a:t> (B-stablo) </a:t>
            </a:r>
            <a:r>
              <a:rPr lang="sr-Latn-RS" b="1" dirty="0">
                <a:solidFill>
                  <a:schemeClr val="tx1"/>
                </a:solidFill>
              </a:rPr>
              <a:t>-</a:t>
            </a:r>
            <a:r>
              <a:rPr lang="sr-Latn-RS" b="1" dirty="0">
                <a:solidFill>
                  <a:schemeClr val="accent5">
                    <a:lumMod val="75000"/>
                  </a:schemeClr>
                </a:solidFill>
              </a:rPr>
              <a:t>  </a:t>
            </a:r>
            <a:r>
              <a:rPr lang="sr-Latn-RS" dirty="0"/>
              <a:t>sortira i čuva podatke u tabeli na osnovu njihovih vrednosti ključa i sastoji se od kolona koje su uključene u definiciju indeksa. </a:t>
            </a:r>
            <a:endParaRPr lang="sr-Latn-RS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Google Shape;615;p44">
            <a:extLst>
              <a:ext uri="{FF2B5EF4-FFF2-40B4-BE49-F238E27FC236}">
                <a16:creationId xmlns:a16="http://schemas.microsoft.com/office/drawing/2014/main" id="{CAA40535-46E0-42CB-B10B-4363B1817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5812" y="325683"/>
            <a:ext cx="80923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sz="2400" dirty="0"/>
              <a:t>03.02.01 Ograničenja – </a:t>
            </a:r>
            <a:r>
              <a:rPr lang="sr-Latn-ME" sz="2400" dirty="0" err="1"/>
              <a:t>Clustered</a:t>
            </a:r>
            <a:r>
              <a:rPr lang="sr-Latn-ME" sz="2400" dirty="0"/>
              <a:t> </a:t>
            </a:r>
            <a:r>
              <a:rPr lang="sr-Latn-ME" sz="2400" dirty="0" err="1"/>
              <a:t>Index</a:t>
            </a:r>
            <a:r>
              <a:rPr lang="sr-Latn-ME" sz="2400" dirty="0"/>
              <a:t>, </a:t>
            </a:r>
            <a:r>
              <a:rPr lang="sr-Latn-ME" sz="2400" dirty="0" err="1"/>
              <a:t>Heap</a:t>
            </a:r>
            <a:r>
              <a:rPr lang="sr-Latn-ME" sz="2400" dirty="0"/>
              <a:t>, </a:t>
            </a:r>
            <a:r>
              <a:rPr lang="sr-Latn-ME" sz="2400" dirty="0" err="1"/>
              <a:t>Non-clustered</a:t>
            </a:r>
            <a:r>
              <a:rPr lang="sr-Latn-ME" sz="2400" dirty="0"/>
              <a:t> </a:t>
            </a:r>
            <a:r>
              <a:rPr lang="sr-Latn-ME" sz="2400" dirty="0" err="1"/>
              <a:t>Index</a:t>
            </a:r>
            <a:endParaRPr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4F1DCD-3461-4271-B350-BD38370106A0}"/>
              </a:ext>
            </a:extLst>
          </p:cNvPr>
          <p:cNvPicPr/>
          <p:nvPr/>
        </p:nvPicPr>
        <p:blipFill rotWithShape="1">
          <a:blip r:embed="rId2"/>
          <a:srcRect l="2331" t="7598" r="2078" b="4753"/>
          <a:stretch/>
        </p:blipFill>
        <p:spPr bwMode="auto">
          <a:xfrm>
            <a:off x="1098362" y="1741197"/>
            <a:ext cx="6814438" cy="2838003"/>
          </a:xfrm>
          <a:prstGeom prst="rect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Google Shape;520;p43">
            <a:extLst>
              <a:ext uri="{FF2B5EF4-FFF2-40B4-BE49-F238E27FC236}">
                <a16:creationId xmlns:a16="http://schemas.microsoft.com/office/drawing/2014/main" id="{B10D5645-329A-42D1-9CA1-6AA0AB0EFD68}"/>
              </a:ext>
            </a:extLst>
          </p:cNvPr>
          <p:cNvSpPr txBox="1">
            <a:spLocks/>
          </p:cNvSpPr>
          <p:nvPr/>
        </p:nvSpPr>
        <p:spPr>
          <a:xfrm>
            <a:off x="2531313" y="4579200"/>
            <a:ext cx="4426971" cy="379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0" indent="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</a:pPr>
            <a:r>
              <a:rPr lang="sr-Latn-ME" sz="1100" dirty="0">
                <a:solidFill>
                  <a:schemeClr val="tx1"/>
                </a:solidFill>
                <a:latin typeface="Voltaire" panose="020B0604020202020204" charset="0"/>
              </a:rPr>
              <a:t>Slika 14, Ilustracija klasterovanog indeksa, </a:t>
            </a:r>
            <a:r>
              <a:rPr lang="sr-Latn-ME" sz="1100" dirty="0" err="1">
                <a:solidFill>
                  <a:schemeClr val="tx1"/>
                </a:solidFill>
                <a:latin typeface="Voltaire" panose="020B0604020202020204" charset="0"/>
              </a:rPr>
              <a:t>heap</a:t>
            </a:r>
            <a:r>
              <a:rPr lang="sr-Latn-ME" sz="1100" dirty="0">
                <a:solidFill>
                  <a:schemeClr val="tx1"/>
                </a:solidFill>
                <a:latin typeface="Voltaire" panose="020B0604020202020204" charset="0"/>
              </a:rPr>
              <a:t>-a i </a:t>
            </a:r>
            <a:r>
              <a:rPr lang="sr-Latn-ME" sz="1100" dirty="0" err="1">
                <a:solidFill>
                  <a:schemeClr val="tx1"/>
                </a:solidFill>
                <a:latin typeface="Voltaire" panose="020B0604020202020204" charset="0"/>
              </a:rPr>
              <a:t>neklasterovanog</a:t>
            </a:r>
            <a:r>
              <a:rPr lang="sr-Latn-ME" sz="1100" dirty="0">
                <a:solidFill>
                  <a:schemeClr val="tx1"/>
                </a:solidFill>
                <a:latin typeface="Voltaire" panose="020B0604020202020204" charset="0"/>
              </a:rPr>
              <a:t> indeksa</a:t>
            </a:r>
          </a:p>
        </p:txBody>
      </p:sp>
    </p:spTree>
    <p:extLst>
      <p:ext uri="{BB962C8B-B14F-4D97-AF65-F5344CB8AC3E}">
        <p14:creationId xmlns:p14="http://schemas.microsoft.com/office/powerpoint/2010/main" val="2630169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20;p43">
            <a:extLst>
              <a:ext uri="{FF2B5EF4-FFF2-40B4-BE49-F238E27FC236}">
                <a16:creationId xmlns:a16="http://schemas.microsoft.com/office/drawing/2014/main" id="{0732AB48-51C4-42EA-94FD-B497D8799FA1}"/>
              </a:ext>
            </a:extLst>
          </p:cNvPr>
          <p:cNvSpPr txBox="1">
            <a:spLocks/>
          </p:cNvSpPr>
          <p:nvPr/>
        </p:nvSpPr>
        <p:spPr>
          <a:xfrm>
            <a:off x="439201" y="898383"/>
            <a:ext cx="7710775" cy="757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412750" indent="-28575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b="1" dirty="0" err="1">
                <a:solidFill>
                  <a:schemeClr val="accent5">
                    <a:lumMod val="75000"/>
                  </a:schemeClr>
                </a:solidFill>
              </a:rPr>
              <a:t>Heap</a:t>
            </a:r>
            <a:r>
              <a:rPr lang="sr-Latn-RS" b="1" dirty="0">
                <a:solidFill>
                  <a:schemeClr val="accent5">
                    <a:lumMod val="75000"/>
                  </a:schemeClr>
                </a:solidFill>
              </a:rPr>
              <a:t> -  </a:t>
            </a:r>
            <a:r>
              <a:rPr lang="sr-Latn-RS" dirty="0">
                <a:solidFill>
                  <a:schemeClr val="tx1"/>
                </a:solidFill>
              </a:rPr>
              <a:t>tabela ne poseduje klasterovani indeks i podaci se čuvaju gde god mogu da se uklope, bez određenog redosleda.</a:t>
            </a:r>
            <a:endParaRPr lang="sr-Latn-R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Google Shape;615;p44">
            <a:extLst>
              <a:ext uri="{FF2B5EF4-FFF2-40B4-BE49-F238E27FC236}">
                <a16:creationId xmlns:a16="http://schemas.microsoft.com/office/drawing/2014/main" id="{CAA40535-46E0-42CB-B10B-4363B1817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5812" y="325683"/>
            <a:ext cx="80923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sz="2400" dirty="0"/>
              <a:t>03.02.01 Ograničenja – </a:t>
            </a:r>
            <a:r>
              <a:rPr lang="sr-Latn-ME" sz="2400" dirty="0" err="1"/>
              <a:t>Clustered</a:t>
            </a:r>
            <a:r>
              <a:rPr lang="sr-Latn-ME" sz="2400" dirty="0"/>
              <a:t> </a:t>
            </a:r>
            <a:r>
              <a:rPr lang="sr-Latn-ME" sz="2400" dirty="0" err="1"/>
              <a:t>Index</a:t>
            </a:r>
            <a:r>
              <a:rPr lang="sr-Latn-ME" sz="2400" dirty="0"/>
              <a:t>, </a:t>
            </a:r>
            <a:r>
              <a:rPr lang="sr-Latn-ME" sz="2400" dirty="0" err="1"/>
              <a:t>Heap</a:t>
            </a:r>
            <a:r>
              <a:rPr lang="sr-Latn-ME" sz="2400" dirty="0"/>
              <a:t>, </a:t>
            </a:r>
            <a:r>
              <a:rPr lang="sr-Latn-ME" sz="2400" dirty="0" err="1"/>
              <a:t>Non-clustered</a:t>
            </a:r>
            <a:r>
              <a:rPr lang="sr-Latn-ME" sz="2400" dirty="0"/>
              <a:t> </a:t>
            </a:r>
            <a:r>
              <a:rPr lang="sr-Latn-ME" sz="2400" dirty="0" err="1"/>
              <a:t>Index</a:t>
            </a:r>
            <a:endParaRPr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4F1DCD-3461-4271-B350-BD38370106A0}"/>
              </a:ext>
            </a:extLst>
          </p:cNvPr>
          <p:cNvPicPr/>
          <p:nvPr/>
        </p:nvPicPr>
        <p:blipFill rotWithShape="1">
          <a:blip r:embed="rId2"/>
          <a:srcRect l="2331" t="7598" r="2078" b="4753"/>
          <a:stretch/>
        </p:blipFill>
        <p:spPr bwMode="auto">
          <a:xfrm>
            <a:off x="1098362" y="1741197"/>
            <a:ext cx="6814438" cy="2838003"/>
          </a:xfrm>
          <a:prstGeom prst="rect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Google Shape;520;p43">
            <a:extLst>
              <a:ext uri="{FF2B5EF4-FFF2-40B4-BE49-F238E27FC236}">
                <a16:creationId xmlns:a16="http://schemas.microsoft.com/office/drawing/2014/main" id="{6AEE19A1-51E0-4750-B3CA-80B60E77BF39}"/>
              </a:ext>
            </a:extLst>
          </p:cNvPr>
          <p:cNvSpPr txBox="1">
            <a:spLocks/>
          </p:cNvSpPr>
          <p:nvPr/>
        </p:nvSpPr>
        <p:spPr>
          <a:xfrm>
            <a:off x="2358513" y="4528800"/>
            <a:ext cx="4426971" cy="379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0" indent="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</a:pPr>
            <a:r>
              <a:rPr lang="sr-Latn-ME" sz="1100" dirty="0">
                <a:solidFill>
                  <a:schemeClr val="tx1"/>
                </a:solidFill>
                <a:latin typeface="Voltaire" panose="020B0604020202020204" charset="0"/>
              </a:rPr>
              <a:t>Slika 14, Ilustracija klasterovanog indeksa, </a:t>
            </a:r>
            <a:r>
              <a:rPr lang="sr-Latn-ME" sz="1100" dirty="0" err="1">
                <a:solidFill>
                  <a:schemeClr val="tx1"/>
                </a:solidFill>
                <a:latin typeface="Voltaire" panose="020B0604020202020204" charset="0"/>
              </a:rPr>
              <a:t>heap</a:t>
            </a:r>
            <a:r>
              <a:rPr lang="sr-Latn-ME" sz="1100" dirty="0">
                <a:solidFill>
                  <a:schemeClr val="tx1"/>
                </a:solidFill>
                <a:latin typeface="Voltaire" panose="020B0604020202020204" charset="0"/>
              </a:rPr>
              <a:t>-a i </a:t>
            </a:r>
            <a:r>
              <a:rPr lang="sr-Latn-ME" sz="1100" dirty="0" err="1">
                <a:solidFill>
                  <a:schemeClr val="tx1"/>
                </a:solidFill>
                <a:latin typeface="Voltaire" panose="020B0604020202020204" charset="0"/>
              </a:rPr>
              <a:t>neklasterovanog</a:t>
            </a:r>
            <a:r>
              <a:rPr lang="sr-Latn-ME" sz="1100" dirty="0">
                <a:solidFill>
                  <a:schemeClr val="tx1"/>
                </a:solidFill>
                <a:latin typeface="Voltaire" panose="020B0604020202020204" charset="0"/>
              </a:rPr>
              <a:t> indeksa</a:t>
            </a:r>
          </a:p>
        </p:txBody>
      </p:sp>
    </p:spTree>
    <p:extLst>
      <p:ext uri="{BB962C8B-B14F-4D97-AF65-F5344CB8AC3E}">
        <p14:creationId xmlns:p14="http://schemas.microsoft.com/office/powerpoint/2010/main" val="19045344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20;p43">
            <a:extLst>
              <a:ext uri="{FF2B5EF4-FFF2-40B4-BE49-F238E27FC236}">
                <a16:creationId xmlns:a16="http://schemas.microsoft.com/office/drawing/2014/main" id="{0732AB48-51C4-42EA-94FD-B497D8799FA1}"/>
              </a:ext>
            </a:extLst>
          </p:cNvPr>
          <p:cNvSpPr txBox="1">
            <a:spLocks/>
          </p:cNvSpPr>
          <p:nvPr/>
        </p:nvSpPr>
        <p:spPr>
          <a:xfrm>
            <a:off x="475201" y="898383"/>
            <a:ext cx="7710775" cy="757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412750" indent="-28575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b="1" dirty="0" err="1">
                <a:solidFill>
                  <a:schemeClr val="accent5">
                    <a:lumMod val="75000"/>
                  </a:schemeClr>
                </a:solidFill>
              </a:rPr>
              <a:t>Non-Clustered</a:t>
            </a:r>
            <a:r>
              <a:rPr lang="sr-Latn-RS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sr-Latn-RS" b="1" dirty="0" err="1">
                <a:solidFill>
                  <a:schemeClr val="accent5">
                    <a:lumMod val="75000"/>
                  </a:schemeClr>
                </a:solidFill>
              </a:rPr>
              <a:t>Index</a:t>
            </a:r>
            <a:r>
              <a:rPr lang="sr-Latn-RS" b="1" dirty="0">
                <a:solidFill>
                  <a:schemeClr val="accent5">
                    <a:lumMod val="75000"/>
                  </a:schemeClr>
                </a:solidFill>
              </a:rPr>
              <a:t> (B-stablo) </a:t>
            </a:r>
            <a:r>
              <a:rPr lang="sr-Latn-RS" b="1" dirty="0">
                <a:solidFill>
                  <a:schemeClr val="tx1"/>
                </a:solidFill>
              </a:rPr>
              <a:t>- </a:t>
            </a:r>
            <a:r>
              <a:rPr lang="sr-Latn-RS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sr-Latn-RS" dirty="0"/>
              <a:t>nezavisna struktura od one u kojoj se čuvaju podaci. Sadrži ključeve – pokazivače na parove ključ-vrednost. Može biti deo klasterovanog indeksa i </a:t>
            </a:r>
            <a:r>
              <a:rPr lang="sr-Latn-RS" dirty="0" err="1"/>
              <a:t>heap</a:t>
            </a:r>
            <a:r>
              <a:rPr lang="sr-Latn-RS" dirty="0"/>
              <a:t>-a.</a:t>
            </a:r>
            <a:endParaRPr lang="sr-Latn-RS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Google Shape;615;p44">
            <a:extLst>
              <a:ext uri="{FF2B5EF4-FFF2-40B4-BE49-F238E27FC236}">
                <a16:creationId xmlns:a16="http://schemas.microsoft.com/office/drawing/2014/main" id="{CAA40535-46E0-42CB-B10B-4363B1817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5812" y="325683"/>
            <a:ext cx="80923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sz="2400" dirty="0"/>
              <a:t>03.02.01 Ograničenja – </a:t>
            </a:r>
            <a:r>
              <a:rPr lang="sr-Latn-ME" sz="2400" dirty="0" err="1"/>
              <a:t>Clustered</a:t>
            </a:r>
            <a:r>
              <a:rPr lang="sr-Latn-ME" sz="2400" dirty="0"/>
              <a:t> </a:t>
            </a:r>
            <a:r>
              <a:rPr lang="sr-Latn-ME" sz="2400" dirty="0" err="1"/>
              <a:t>Index</a:t>
            </a:r>
            <a:r>
              <a:rPr lang="sr-Latn-ME" sz="2400" dirty="0"/>
              <a:t>, </a:t>
            </a:r>
            <a:r>
              <a:rPr lang="sr-Latn-ME" sz="2400" dirty="0" err="1"/>
              <a:t>Heap</a:t>
            </a:r>
            <a:r>
              <a:rPr lang="sr-Latn-ME" sz="2400" dirty="0"/>
              <a:t>, </a:t>
            </a:r>
            <a:r>
              <a:rPr lang="sr-Latn-ME" sz="2400" dirty="0" err="1"/>
              <a:t>Non-clustered</a:t>
            </a:r>
            <a:r>
              <a:rPr lang="sr-Latn-ME" sz="2400" dirty="0"/>
              <a:t> </a:t>
            </a:r>
            <a:r>
              <a:rPr lang="sr-Latn-ME" sz="2400" dirty="0" err="1"/>
              <a:t>Index</a:t>
            </a:r>
            <a:endParaRPr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4F1DCD-3461-4271-B350-BD38370106A0}"/>
              </a:ext>
            </a:extLst>
          </p:cNvPr>
          <p:cNvPicPr/>
          <p:nvPr/>
        </p:nvPicPr>
        <p:blipFill rotWithShape="1">
          <a:blip r:embed="rId2"/>
          <a:srcRect l="2331" t="7598" r="2078" b="4753"/>
          <a:stretch/>
        </p:blipFill>
        <p:spPr bwMode="auto">
          <a:xfrm>
            <a:off x="1098362" y="1741197"/>
            <a:ext cx="6814438" cy="2838003"/>
          </a:xfrm>
          <a:prstGeom prst="rect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Google Shape;520;p43">
            <a:extLst>
              <a:ext uri="{FF2B5EF4-FFF2-40B4-BE49-F238E27FC236}">
                <a16:creationId xmlns:a16="http://schemas.microsoft.com/office/drawing/2014/main" id="{C0C534B5-9CF5-4069-AC7C-0E567C815750}"/>
              </a:ext>
            </a:extLst>
          </p:cNvPr>
          <p:cNvSpPr txBox="1">
            <a:spLocks/>
          </p:cNvSpPr>
          <p:nvPr/>
        </p:nvSpPr>
        <p:spPr>
          <a:xfrm>
            <a:off x="2358513" y="4528800"/>
            <a:ext cx="4426971" cy="379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0" indent="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</a:pPr>
            <a:r>
              <a:rPr lang="sr-Latn-ME" sz="1100" dirty="0">
                <a:solidFill>
                  <a:schemeClr val="tx1"/>
                </a:solidFill>
                <a:latin typeface="Voltaire" panose="020B0604020202020204" charset="0"/>
              </a:rPr>
              <a:t>Slika 14, Ilustracija klasterovanog indeksa, </a:t>
            </a:r>
            <a:r>
              <a:rPr lang="sr-Latn-ME" sz="1100" dirty="0" err="1">
                <a:solidFill>
                  <a:schemeClr val="tx1"/>
                </a:solidFill>
                <a:latin typeface="Voltaire" panose="020B0604020202020204" charset="0"/>
              </a:rPr>
              <a:t>heap</a:t>
            </a:r>
            <a:r>
              <a:rPr lang="sr-Latn-ME" sz="1100" dirty="0">
                <a:solidFill>
                  <a:schemeClr val="tx1"/>
                </a:solidFill>
                <a:latin typeface="Voltaire" panose="020B0604020202020204" charset="0"/>
              </a:rPr>
              <a:t>-a i </a:t>
            </a:r>
            <a:r>
              <a:rPr lang="sr-Latn-ME" sz="1100" dirty="0" err="1">
                <a:solidFill>
                  <a:schemeClr val="tx1"/>
                </a:solidFill>
                <a:latin typeface="Voltaire" panose="020B0604020202020204" charset="0"/>
              </a:rPr>
              <a:t>neklasterovanog</a:t>
            </a:r>
            <a:r>
              <a:rPr lang="sr-Latn-ME" sz="1100" dirty="0">
                <a:solidFill>
                  <a:schemeClr val="tx1"/>
                </a:solidFill>
                <a:latin typeface="Voltaire" panose="020B0604020202020204" charset="0"/>
              </a:rPr>
              <a:t> indeksa</a:t>
            </a:r>
          </a:p>
        </p:txBody>
      </p:sp>
    </p:spTree>
    <p:extLst>
      <p:ext uri="{BB962C8B-B14F-4D97-AF65-F5344CB8AC3E}">
        <p14:creationId xmlns:p14="http://schemas.microsoft.com/office/powerpoint/2010/main" val="24958949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20;p43">
            <a:extLst>
              <a:ext uri="{FF2B5EF4-FFF2-40B4-BE49-F238E27FC236}">
                <a16:creationId xmlns:a16="http://schemas.microsoft.com/office/drawing/2014/main" id="{0732AB48-51C4-42EA-94FD-B497D8799FA1}"/>
              </a:ext>
            </a:extLst>
          </p:cNvPr>
          <p:cNvSpPr txBox="1">
            <a:spLocks/>
          </p:cNvSpPr>
          <p:nvPr/>
        </p:nvSpPr>
        <p:spPr>
          <a:xfrm>
            <a:off x="439201" y="898383"/>
            <a:ext cx="7710775" cy="1225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412750" indent="-28575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en-US" dirty="0"/>
              <a:t>S</a:t>
            </a:r>
            <a:r>
              <a:rPr lang="sr-Latn-RS" dirty="0"/>
              <a:t>luže da se neki spoj uradi na najbolji mogući način, </a:t>
            </a:r>
            <a:r>
              <a:rPr lang="sr-Latn-RS" dirty="0" err="1"/>
              <a:t>enkapsulira</a:t>
            </a:r>
            <a:r>
              <a:rPr lang="sr-Latn-RS" dirty="0"/>
              <a:t> i bude dostupan ostalima za korišćenje</a:t>
            </a:r>
            <a:endParaRPr lang="en-US" dirty="0"/>
          </a:p>
          <a:p>
            <a:pPr marL="412750" indent="-28575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en-US" dirty="0"/>
              <a:t>D</a:t>
            </a:r>
            <a:r>
              <a:rPr lang="sr-Latn-RS" dirty="0"/>
              <a:t>odaju jedan nivo sigurnosti bazi podataka</a:t>
            </a:r>
            <a:endParaRPr lang="en-US" dirty="0"/>
          </a:p>
          <a:p>
            <a:pPr marL="412750" indent="-28575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dirty="0"/>
              <a:t>„</a:t>
            </a:r>
            <a:r>
              <a:rPr lang="en-US" dirty="0"/>
              <a:t>V</a:t>
            </a:r>
            <a:r>
              <a:rPr lang="sr-Latn-RS" dirty="0" err="1"/>
              <a:t>irtuelne</a:t>
            </a:r>
            <a:r>
              <a:rPr lang="sr-Latn-RS" dirty="0"/>
              <a:t>“ tabele, jer se nad njima mogu kreirati upiti, indeksi, ažuriranja</a:t>
            </a:r>
            <a:endParaRPr lang="sr-Latn-RS" sz="1400" dirty="0"/>
          </a:p>
        </p:txBody>
      </p:sp>
      <p:sp>
        <p:nvSpPr>
          <p:cNvPr id="10" name="Google Shape;615;p44">
            <a:extLst>
              <a:ext uri="{FF2B5EF4-FFF2-40B4-BE49-F238E27FC236}">
                <a16:creationId xmlns:a16="http://schemas.microsoft.com/office/drawing/2014/main" id="{CAA40535-46E0-42CB-B10B-4363B1817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5812" y="325683"/>
            <a:ext cx="80923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sz="2400" dirty="0"/>
              <a:t>0</a:t>
            </a:r>
            <a:r>
              <a:rPr lang="en-US" sz="2400" dirty="0"/>
              <a:t>4.01</a:t>
            </a:r>
            <a:r>
              <a:rPr lang="sr-Latn-ME" sz="2400" dirty="0"/>
              <a:t> Pogledi</a:t>
            </a:r>
            <a:endParaRPr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1E20ED-41BA-4237-BB23-5B3C652B4CBD}"/>
              </a:ext>
            </a:extLst>
          </p:cNvPr>
          <p:cNvPicPr/>
          <p:nvPr/>
        </p:nvPicPr>
        <p:blipFill rotWithShape="1">
          <a:blip r:embed="rId2"/>
          <a:srcRect l="1872" b="2656"/>
          <a:stretch/>
        </p:blipFill>
        <p:spPr bwMode="auto">
          <a:xfrm>
            <a:off x="715163" y="3149908"/>
            <a:ext cx="2409638" cy="1531974"/>
          </a:xfrm>
          <a:prstGeom prst="rect">
            <a:avLst/>
          </a:prstGeom>
          <a:ln w="9525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round/>
            <a:headEnd type="none" w="med" len="med"/>
            <a:tailEnd type="none" w="med" len="med"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3CA0A2-F2F3-42C1-847B-F9EDB95EE126}"/>
              </a:ext>
            </a:extLst>
          </p:cNvPr>
          <p:cNvPicPr/>
          <p:nvPr/>
        </p:nvPicPr>
        <p:blipFill rotWithShape="1">
          <a:blip r:embed="rId3"/>
          <a:srcRect l="2667" r="2112" b="11182"/>
          <a:stretch/>
        </p:blipFill>
        <p:spPr bwMode="auto">
          <a:xfrm>
            <a:off x="4294588" y="3519572"/>
            <a:ext cx="4377387" cy="1162310"/>
          </a:xfrm>
          <a:prstGeom prst="rect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Google Shape;520;p43">
            <a:extLst>
              <a:ext uri="{FF2B5EF4-FFF2-40B4-BE49-F238E27FC236}">
                <a16:creationId xmlns:a16="http://schemas.microsoft.com/office/drawing/2014/main" id="{BD1B8384-BFD0-4DB4-9816-1CA41A283392}"/>
              </a:ext>
            </a:extLst>
          </p:cNvPr>
          <p:cNvSpPr txBox="1">
            <a:spLocks/>
          </p:cNvSpPr>
          <p:nvPr/>
        </p:nvSpPr>
        <p:spPr>
          <a:xfrm>
            <a:off x="4064188" y="2696700"/>
            <a:ext cx="4607787" cy="487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127000" indent="0" algn="l">
              <a:buClr>
                <a:schemeClr val="accent5">
                  <a:lumMod val="75000"/>
                </a:schemeClr>
              </a:buClr>
              <a:buSzPct val="120000"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PROBLEM: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Ukoliko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do</a:t>
            </a:r>
            <a:r>
              <a:rPr lang="sr-Latn-RS" sz="1400" b="1" dirty="0" err="1">
                <a:solidFill>
                  <a:schemeClr val="accent5">
                    <a:lumMod val="75000"/>
                  </a:schemeClr>
                </a:solidFill>
              </a:rPr>
              <a:t>đe</a:t>
            </a:r>
            <a:r>
              <a:rPr lang="sr-Latn-RS" sz="1400" b="1" dirty="0">
                <a:solidFill>
                  <a:schemeClr val="accent5">
                    <a:lumMod val="75000"/>
                  </a:schemeClr>
                </a:solidFill>
              </a:rPr>
              <a:t> do promene tabele nad kojoj je kreiran upit i pokušamo da dobijemo podatke iz tog pogleda.</a:t>
            </a:r>
          </a:p>
        </p:txBody>
      </p:sp>
      <p:sp>
        <p:nvSpPr>
          <p:cNvPr id="7" name="Google Shape;520;p43">
            <a:extLst>
              <a:ext uri="{FF2B5EF4-FFF2-40B4-BE49-F238E27FC236}">
                <a16:creationId xmlns:a16="http://schemas.microsoft.com/office/drawing/2014/main" id="{63734F10-3B6D-4058-BF64-D258D3862BFE}"/>
              </a:ext>
            </a:extLst>
          </p:cNvPr>
          <p:cNvSpPr txBox="1">
            <a:spLocks/>
          </p:cNvSpPr>
          <p:nvPr/>
        </p:nvSpPr>
        <p:spPr>
          <a:xfrm>
            <a:off x="525812" y="2393025"/>
            <a:ext cx="2922987" cy="487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127000" indent="0" algn="l">
              <a:buClr>
                <a:schemeClr val="accent5">
                  <a:lumMod val="75000"/>
                </a:schemeClr>
              </a:buClr>
              <a:buSzPct val="120000"/>
            </a:pPr>
            <a:r>
              <a:rPr lang="sr-Latn-RS" sz="1400" b="1" dirty="0">
                <a:solidFill>
                  <a:schemeClr val="accent5">
                    <a:lumMod val="75000"/>
                  </a:schemeClr>
                </a:solidFill>
              </a:rPr>
              <a:t>Primer kreiranja pogleda nad tabelom </a:t>
            </a:r>
            <a:r>
              <a:rPr lang="sr-Latn-RS" sz="1400" b="1" i="1" dirty="0" err="1">
                <a:solidFill>
                  <a:schemeClr val="accent5">
                    <a:lumMod val="75000"/>
                  </a:schemeClr>
                </a:solidFill>
              </a:rPr>
              <a:t>Customers</a:t>
            </a:r>
            <a:r>
              <a:rPr lang="sr-Latn-RS" sz="1400" b="1" i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sr-Latn-RS" sz="1400" b="1" dirty="0">
                <a:solidFill>
                  <a:schemeClr val="accent5">
                    <a:lumMod val="75000"/>
                  </a:schemeClr>
                </a:solidFill>
              </a:rPr>
              <a:t>i tabelom </a:t>
            </a:r>
            <a:r>
              <a:rPr lang="sr-Latn-RS" sz="1400" b="1" i="1" dirty="0" err="1">
                <a:solidFill>
                  <a:schemeClr val="accent5">
                    <a:lumMod val="75000"/>
                  </a:schemeClr>
                </a:solidFill>
              </a:rPr>
              <a:t>Rentals</a:t>
            </a:r>
            <a:endParaRPr lang="sr-Latn-RS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8461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20;p43">
            <a:extLst>
              <a:ext uri="{FF2B5EF4-FFF2-40B4-BE49-F238E27FC236}">
                <a16:creationId xmlns:a16="http://schemas.microsoft.com/office/drawing/2014/main" id="{0732AB48-51C4-42EA-94FD-B497D8799FA1}"/>
              </a:ext>
            </a:extLst>
          </p:cNvPr>
          <p:cNvSpPr txBox="1">
            <a:spLocks/>
          </p:cNvSpPr>
          <p:nvPr/>
        </p:nvSpPr>
        <p:spPr>
          <a:xfrm>
            <a:off x="439200" y="898384"/>
            <a:ext cx="7710775" cy="1159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lvl="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dirty="0"/>
              <a:t>Tabele koje pogled referencira ne mogu biti modifikovane ni izbrisane bez prethodnog modifikovanja ili brisanja pogleda.</a:t>
            </a:r>
          </a:p>
          <a:p>
            <a:pPr lvl="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dirty="0"/>
              <a:t>Bilo koji SELECT nad pogledom mora da sadrži i ime šeme i ime objekta. </a:t>
            </a:r>
          </a:p>
          <a:p>
            <a:pPr lvl="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dirty="0"/>
              <a:t>Svi referencirani objekti moraju se nalaze u istoj bazi podataka. </a:t>
            </a:r>
          </a:p>
        </p:txBody>
      </p:sp>
      <p:sp>
        <p:nvSpPr>
          <p:cNvPr id="10" name="Google Shape;615;p44">
            <a:extLst>
              <a:ext uri="{FF2B5EF4-FFF2-40B4-BE49-F238E27FC236}">
                <a16:creationId xmlns:a16="http://schemas.microsoft.com/office/drawing/2014/main" id="{CAA40535-46E0-42CB-B10B-4363B1817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5812" y="325683"/>
            <a:ext cx="80923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sz="2400" dirty="0"/>
              <a:t>0</a:t>
            </a:r>
            <a:r>
              <a:rPr lang="en-US" sz="2400" dirty="0"/>
              <a:t>4.01</a:t>
            </a:r>
            <a:r>
              <a:rPr lang="sr-Latn-ME" sz="2400" dirty="0"/>
              <a:t> Pogledi – SCHEMABINDING</a:t>
            </a:r>
            <a:endParaRPr sz="2400" dirty="0"/>
          </a:p>
        </p:txBody>
      </p:sp>
      <p:sp>
        <p:nvSpPr>
          <p:cNvPr id="6" name="Google Shape;520;p43">
            <a:extLst>
              <a:ext uri="{FF2B5EF4-FFF2-40B4-BE49-F238E27FC236}">
                <a16:creationId xmlns:a16="http://schemas.microsoft.com/office/drawing/2014/main" id="{BD1B8384-BFD0-4DB4-9816-1CA41A283392}"/>
              </a:ext>
            </a:extLst>
          </p:cNvPr>
          <p:cNvSpPr txBox="1">
            <a:spLocks/>
          </p:cNvSpPr>
          <p:nvPr/>
        </p:nvSpPr>
        <p:spPr>
          <a:xfrm>
            <a:off x="3797788" y="3416700"/>
            <a:ext cx="4607787" cy="487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127000" indent="0" algn="l">
              <a:buClr>
                <a:schemeClr val="accent5">
                  <a:lumMod val="75000"/>
                </a:schemeClr>
              </a:buClr>
              <a:buSzPct val="120000"/>
            </a:pPr>
            <a:r>
              <a:rPr lang="sr-Latn-RS" sz="1400" b="1" dirty="0">
                <a:solidFill>
                  <a:schemeClr val="accent5">
                    <a:lumMod val="75000"/>
                  </a:schemeClr>
                </a:solidFill>
              </a:rPr>
              <a:t>Brisanje ili modifikacija tabele pre izmene pogleda koji je kreiran nad njom neće uspeti!</a:t>
            </a:r>
          </a:p>
        </p:txBody>
      </p:sp>
      <p:sp>
        <p:nvSpPr>
          <p:cNvPr id="7" name="Google Shape;520;p43">
            <a:extLst>
              <a:ext uri="{FF2B5EF4-FFF2-40B4-BE49-F238E27FC236}">
                <a16:creationId xmlns:a16="http://schemas.microsoft.com/office/drawing/2014/main" id="{63734F10-3B6D-4058-BF64-D258D3862BFE}"/>
              </a:ext>
            </a:extLst>
          </p:cNvPr>
          <p:cNvSpPr txBox="1">
            <a:spLocks/>
          </p:cNvSpPr>
          <p:nvPr/>
        </p:nvSpPr>
        <p:spPr>
          <a:xfrm>
            <a:off x="568053" y="2386702"/>
            <a:ext cx="3229735" cy="487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127000" indent="0" algn="l">
              <a:buClr>
                <a:schemeClr val="accent5">
                  <a:lumMod val="75000"/>
                </a:schemeClr>
              </a:buClr>
              <a:buSzPct val="120000"/>
            </a:pPr>
            <a:r>
              <a:rPr lang="sr-Latn-RS" sz="1400" b="1" dirty="0">
                <a:solidFill>
                  <a:schemeClr val="accent5">
                    <a:lumMod val="75000"/>
                  </a:schemeClr>
                </a:solidFill>
              </a:rPr>
              <a:t>Primer kreiranja pogleda nad tabelom </a:t>
            </a:r>
            <a:r>
              <a:rPr lang="sr-Latn-RS" sz="1400" b="1" i="1" dirty="0" err="1">
                <a:solidFill>
                  <a:schemeClr val="accent5">
                    <a:lumMod val="75000"/>
                  </a:schemeClr>
                </a:solidFill>
              </a:rPr>
              <a:t>Customers</a:t>
            </a:r>
            <a:r>
              <a:rPr lang="sr-Latn-RS" sz="1400" b="1" i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sr-Latn-RS" sz="1400" b="1" dirty="0">
                <a:solidFill>
                  <a:schemeClr val="accent5">
                    <a:lumMod val="75000"/>
                  </a:schemeClr>
                </a:solidFill>
              </a:rPr>
              <a:t>i tabelom </a:t>
            </a:r>
            <a:r>
              <a:rPr lang="sr-Latn-RS" sz="1400" b="1" i="1" dirty="0" err="1">
                <a:solidFill>
                  <a:schemeClr val="accent5">
                    <a:lumMod val="75000"/>
                  </a:schemeClr>
                </a:solidFill>
              </a:rPr>
              <a:t>Rentals</a:t>
            </a:r>
            <a:r>
              <a:rPr lang="sr-Latn-RS" sz="1400" b="1" i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sr-Latn-RS" sz="1400" b="1" dirty="0">
                <a:solidFill>
                  <a:schemeClr val="accent5">
                    <a:lumMod val="75000"/>
                  </a:schemeClr>
                </a:solidFill>
              </a:rPr>
              <a:t>sa opcijom SCHEMABINDING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34A893-E692-40BD-AFB6-CB82A14FDCC2}"/>
              </a:ext>
            </a:extLst>
          </p:cNvPr>
          <p:cNvPicPr/>
          <p:nvPr/>
        </p:nvPicPr>
        <p:blipFill rotWithShape="1">
          <a:blip r:embed="rId2"/>
          <a:srcRect l="964" t="6260" r="-1"/>
          <a:stretch/>
        </p:blipFill>
        <p:spPr bwMode="auto">
          <a:xfrm>
            <a:off x="804696" y="3240255"/>
            <a:ext cx="2644103" cy="1601921"/>
          </a:xfrm>
          <a:prstGeom prst="rect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C8A854-E638-44A5-B9D9-E80C9955824E}"/>
              </a:ext>
            </a:extLst>
          </p:cNvPr>
          <p:cNvPicPr/>
          <p:nvPr/>
        </p:nvPicPr>
        <p:blipFill rotWithShape="1">
          <a:blip r:embed="rId3"/>
          <a:srcRect r="379" b="21247"/>
          <a:stretch/>
        </p:blipFill>
        <p:spPr bwMode="auto">
          <a:xfrm>
            <a:off x="3988800" y="4053600"/>
            <a:ext cx="4683175" cy="764217"/>
          </a:xfrm>
          <a:prstGeom prst="rect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482491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20;p43">
            <a:extLst>
              <a:ext uri="{FF2B5EF4-FFF2-40B4-BE49-F238E27FC236}">
                <a16:creationId xmlns:a16="http://schemas.microsoft.com/office/drawing/2014/main" id="{0732AB48-51C4-42EA-94FD-B497D8799FA1}"/>
              </a:ext>
            </a:extLst>
          </p:cNvPr>
          <p:cNvSpPr txBox="1">
            <a:spLocks/>
          </p:cNvSpPr>
          <p:nvPr/>
        </p:nvSpPr>
        <p:spPr>
          <a:xfrm>
            <a:off x="374400" y="761941"/>
            <a:ext cx="6985560" cy="2114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sz="1400" dirty="0"/>
              <a:t>Kroz poglede je moguće uneti podatke u tabelu, izbrisati podatke iz tabele ili ažurirati podatke u tabeli, ali SQL Server mora da zna o kojoj se tačno tabeli radi.</a:t>
            </a:r>
          </a:p>
          <a:p>
            <a:pPr marL="469900" lvl="0" indent="-342900" algn="l">
              <a:buFont typeface="+mj-lt"/>
              <a:buAutoNum type="arabicPeriod"/>
            </a:pPr>
            <a:r>
              <a:rPr lang="sr-Latn-RS" sz="1400" dirty="0"/>
              <a:t>Bilo koja promena mora da referencira kolone iz samo jedne tabele koja je iskorišćena za kreiranje pogleda.</a:t>
            </a:r>
          </a:p>
          <a:p>
            <a:pPr marL="469900" lvl="0" indent="-342900" algn="l">
              <a:buFont typeface="+mj-lt"/>
              <a:buAutoNum type="arabicPeriod"/>
            </a:pPr>
            <a:r>
              <a:rPr lang="sr-Latn-RS" sz="1400" dirty="0"/>
              <a:t>Kolone koje se modifikuju moraju direktno referencirati podatke iz tabele, tj.ne mogu biti izvedene.</a:t>
            </a:r>
          </a:p>
          <a:p>
            <a:pPr marL="469900" lvl="0" indent="-342900" algn="l">
              <a:buFont typeface="+mj-lt"/>
              <a:buAutoNum type="arabicPeriod"/>
            </a:pPr>
            <a:r>
              <a:rPr lang="sr-Latn-RS" sz="1400" dirty="0"/>
              <a:t>Kolone koje se modifikuju nisu pogođene klauzulama GROUP BY, HAVING, DISTINCT, PIVOT ili UNPIVOT.</a:t>
            </a:r>
          </a:p>
          <a:p>
            <a:pPr marL="469900" lvl="0" indent="-342900" algn="l">
              <a:buFont typeface="+mj-lt"/>
              <a:buAutoNum type="arabicPeriod"/>
            </a:pPr>
            <a:r>
              <a:rPr lang="sr-Latn-RS" sz="1400" dirty="0"/>
              <a:t>TOP i OFFSET klauzule se ne mogu koristiti uz CHECK OPTION, jer bi neki podaci mogli da postanu sakriveni nakon modifikacije. </a:t>
            </a:r>
          </a:p>
        </p:txBody>
      </p:sp>
      <p:sp>
        <p:nvSpPr>
          <p:cNvPr id="10" name="Google Shape;615;p44">
            <a:extLst>
              <a:ext uri="{FF2B5EF4-FFF2-40B4-BE49-F238E27FC236}">
                <a16:creationId xmlns:a16="http://schemas.microsoft.com/office/drawing/2014/main" id="{CAA40535-46E0-42CB-B10B-4363B1817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5812" y="325683"/>
            <a:ext cx="80923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sz="2400" dirty="0"/>
              <a:t>0</a:t>
            </a:r>
            <a:r>
              <a:rPr lang="en-US" sz="2400" dirty="0"/>
              <a:t>4.01</a:t>
            </a:r>
            <a:r>
              <a:rPr lang="sr-Latn-ME" sz="2400" dirty="0"/>
              <a:t> Pogledi – ažuriranja</a:t>
            </a:r>
            <a:endParaRPr sz="2400" dirty="0"/>
          </a:p>
        </p:txBody>
      </p:sp>
      <p:sp>
        <p:nvSpPr>
          <p:cNvPr id="6" name="Google Shape;520;p43">
            <a:extLst>
              <a:ext uri="{FF2B5EF4-FFF2-40B4-BE49-F238E27FC236}">
                <a16:creationId xmlns:a16="http://schemas.microsoft.com/office/drawing/2014/main" id="{BD1B8384-BFD0-4DB4-9816-1CA41A283392}"/>
              </a:ext>
            </a:extLst>
          </p:cNvPr>
          <p:cNvSpPr txBox="1">
            <a:spLocks/>
          </p:cNvSpPr>
          <p:nvPr/>
        </p:nvSpPr>
        <p:spPr>
          <a:xfrm>
            <a:off x="5025600" y="3208228"/>
            <a:ext cx="3055975" cy="487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127000" indent="0" algn="l">
              <a:buClr>
                <a:schemeClr val="accent5">
                  <a:lumMod val="75000"/>
                </a:schemeClr>
              </a:buClr>
              <a:buSzPct val="120000"/>
            </a:pPr>
            <a:r>
              <a:rPr lang="sr-Latn-RS" sz="1400" b="1" dirty="0">
                <a:solidFill>
                  <a:schemeClr val="accent5">
                    <a:lumMod val="75000"/>
                  </a:schemeClr>
                </a:solidFill>
              </a:rPr>
              <a:t>Neuspešno ažuriranja tabela </a:t>
            </a:r>
            <a:r>
              <a:rPr lang="sr-Latn-RS" sz="1400" b="1" i="1" dirty="0" err="1">
                <a:solidFill>
                  <a:schemeClr val="accent5">
                    <a:lumMod val="75000"/>
                  </a:schemeClr>
                </a:solidFill>
              </a:rPr>
              <a:t>Customers</a:t>
            </a:r>
            <a:r>
              <a:rPr lang="sr-Latn-RS" sz="1400" b="1" i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sr-Latn-RS" sz="1400" b="1" dirty="0">
                <a:solidFill>
                  <a:schemeClr val="accent5">
                    <a:lumMod val="75000"/>
                  </a:schemeClr>
                </a:solidFill>
              </a:rPr>
              <a:t>i </a:t>
            </a:r>
            <a:r>
              <a:rPr lang="sr-Latn-RS" sz="1400" b="1" i="1" dirty="0" err="1">
                <a:solidFill>
                  <a:schemeClr val="accent5">
                    <a:lumMod val="75000"/>
                  </a:schemeClr>
                </a:solidFill>
              </a:rPr>
              <a:t>Rentals</a:t>
            </a:r>
            <a:r>
              <a:rPr lang="sr-Latn-RS" sz="1400" b="1" i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sr-Latn-RS" sz="1400" b="1" dirty="0">
                <a:solidFill>
                  <a:schemeClr val="accent5">
                    <a:lumMod val="75000"/>
                  </a:schemeClr>
                </a:solidFill>
              </a:rPr>
              <a:t>kroz pogled </a:t>
            </a:r>
            <a:r>
              <a:rPr lang="sr-Latn-RS" sz="1400" b="1" i="1" dirty="0" err="1">
                <a:solidFill>
                  <a:schemeClr val="accent5">
                    <a:lumMod val="75000"/>
                  </a:schemeClr>
                </a:solidFill>
              </a:rPr>
              <a:t>CustomerReport</a:t>
            </a:r>
            <a:endParaRPr lang="sr-Latn-RS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Google Shape;520;p43">
            <a:extLst>
              <a:ext uri="{FF2B5EF4-FFF2-40B4-BE49-F238E27FC236}">
                <a16:creationId xmlns:a16="http://schemas.microsoft.com/office/drawing/2014/main" id="{63734F10-3B6D-4058-BF64-D258D3862BFE}"/>
              </a:ext>
            </a:extLst>
          </p:cNvPr>
          <p:cNvSpPr txBox="1">
            <a:spLocks/>
          </p:cNvSpPr>
          <p:nvPr/>
        </p:nvSpPr>
        <p:spPr>
          <a:xfrm>
            <a:off x="1368107" y="3068880"/>
            <a:ext cx="2750294" cy="487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127000" indent="0" algn="l">
              <a:buClr>
                <a:schemeClr val="accent5">
                  <a:lumMod val="75000"/>
                </a:schemeClr>
              </a:buClr>
              <a:buSzPct val="120000"/>
            </a:pPr>
            <a:r>
              <a:rPr lang="sr-Latn-RS" sz="1400" b="1" dirty="0">
                <a:solidFill>
                  <a:schemeClr val="accent5">
                    <a:lumMod val="75000"/>
                  </a:schemeClr>
                </a:solidFill>
              </a:rPr>
              <a:t>Uspešno ažuriranje tabele </a:t>
            </a:r>
            <a:r>
              <a:rPr lang="sr-Latn-RS" sz="1400" b="1" i="1" dirty="0" err="1">
                <a:solidFill>
                  <a:schemeClr val="accent5">
                    <a:lumMod val="75000"/>
                  </a:schemeClr>
                </a:solidFill>
              </a:rPr>
              <a:t>Rentals</a:t>
            </a:r>
            <a:r>
              <a:rPr lang="sr-Latn-RS" sz="1400" b="1" i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sr-Latn-RS" sz="1400" b="1" dirty="0">
                <a:solidFill>
                  <a:schemeClr val="accent5">
                    <a:lumMod val="75000"/>
                  </a:schemeClr>
                </a:solidFill>
              </a:rPr>
              <a:t>kroz pogled </a:t>
            </a:r>
            <a:r>
              <a:rPr lang="sr-Latn-RS" sz="1400" b="1" i="1" dirty="0" err="1">
                <a:solidFill>
                  <a:schemeClr val="accent5">
                    <a:lumMod val="75000"/>
                  </a:schemeClr>
                </a:solidFill>
              </a:rPr>
              <a:t>CustomerReport</a:t>
            </a:r>
            <a:endParaRPr lang="sr-Latn-RS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5706AF-B186-4919-87E5-6992219E856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50754" y="3940199"/>
            <a:ext cx="2171700" cy="857250"/>
          </a:xfrm>
          <a:prstGeom prst="rect">
            <a:avLst/>
          </a:prstGeom>
          <a:ln w="12700">
            <a:solidFill>
              <a:schemeClr val="accent4">
                <a:lumMod val="60000"/>
                <a:lumOff val="40000"/>
              </a:schemeClr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A631B9-EC9A-424C-AE1B-882E698D0F2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276040" y="4091964"/>
            <a:ext cx="2407920" cy="705485"/>
          </a:xfrm>
          <a:prstGeom prst="rect">
            <a:avLst/>
          </a:prstGeom>
          <a:ln w="12700">
            <a:solidFill>
              <a:schemeClr val="accent4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287399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20;p43">
            <a:extLst>
              <a:ext uri="{FF2B5EF4-FFF2-40B4-BE49-F238E27FC236}">
                <a16:creationId xmlns:a16="http://schemas.microsoft.com/office/drawing/2014/main" id="{0732AB48-51C4-42EA-94FD-B497D8799FA1}"/>
              </a:ext>
            </a:extLst>
          </p:cNvPr>
          <p:cNvSpPr txBox="1">
            <a:spLocks/>
          </p:cNvSpPr>
          <p:nvPr/>
        </p:nvSpPr>
        <p:spPr>
          <a:xfrm>
            <a:off x="525812" y="1389600"/>
            <a:ext cx="3867179" cy="1729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412750" indent="-28575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dirty="0"/>
              <a:t>Poglede je moguće indeksirati i na taj način ubrzati izvršenje upita</a:t>
            </a:r>
          </a:p>
          <a:p>
            <a:pPr marL="412750" indent="-28575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dirty="0"/>
              <a:t>Indeksirani pogled je objekat koji se čuva u bazi podataka na isti način kao i indeksi tabela (na disku)</a:t>
            </a:r>
          </a:p>
          <a:p>
            <a:pPr marL="412750" indent="-28575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dirty="0"/>
              <a:t>Pogled ne mora da bude referenciran u upitu da bi ga optimizator uzeo u obzir za izvršenje, SQL Server zna da taj pogled postoji i iskoristiće ga ukoliko će to ubrzati izvršenje</a:t>
            </a:r>
          </a:p>
          <a:p>
            <a:pPr marL="412750" indent="-28575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endParaRPr lang="sr-Latn-RS" dirty="0"/>
          </a:p>
          <a:p>
            <a:pPr marL="412750" indent="-28575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endParaRPr lang="sr-Latn-RS" sz="1400" dirty="0"/>
          </a:p>
        </p:txBody>
      </p:sp>
      <p:sp>
        <p:nvSpPr>
          <p:cNvPr id="10" name="Google Shape;615;p44">
            <a:extLst>
              <a:ext uri="{FF2B5EF4-FFF2-40B4-BE49-F238E27FC236}">
                <a16:creationId xmlns:a16="http://schemas.microsoft.com/office/drawing/2014/main" id="{CAA40535-46E0-42CB-B10B-4363B1817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5812" y="325683"/>
            <a:ext cx="80923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/>
              <a:t>04.02</a:t>
            </a:r>
            <a:r>
              <a:rPr lang="sr-Latn-ME" sz="2400" dirty="0"/>
              <a:t> Pogledi – </a:t>
            </a:r>
            <a:r>
              <a:rPr lang="en-US" sz="2400" dirty="0" err="1"/>
              <a:t>indeksiranje</a:t>
            </a:r>
            <a:endParaRPr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E26EA4-7225-4C3F-ABC5-2E1FB15A240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643999" y="1389600"/>
            <a:ext cx="3867179" cy="2506740"/>
          </a:xfrm>
          <a:prstGeom prst="rect">
            <a:avLst/>
          </a:prstGeom>
          <a:ln w="12700">
            <a:solidFill>
              <a:schemeClr val="accent4">
                <a:lumMod val="60000"/>
                <a:lumOff val="40000"/>
              </a:schemeClr>
            </a:solidFill>
          </a:ln>
        </p:spPr>
      </p:pic>
      <p:sp>
        <p:nvSpPr>
          <p:cNvPr id="5" name="Google Shape;520;p43">
            <a:extLst>
              <a:ext uri="{FF2B5EF4-FFF2-40B4-BE49-F238E27FC236}">
                <a16:creationId xmlns:a16="http://schemas.microsoft.com/office/drawing/2014/main" id="{AD4BA555-F4E7-4280-BC6F-AE12130704EB}"/>
              </a:ext>
            </a:extLst>
          </p:cNvPr>
          <p:cNvSpPr txBox="1">
            <a:spLocks/>
          </p:cNvSpPr>
          <p:nvPr/>
        </p:nvSpPr>
        <p:spPr>
          <a:xfrm>
            <a:off x="5428799" y="3838740"/>
            <a:ext cx="4426971" cy="379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0" indent="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</a:pPr>
            <a:r>
              <a:rPr lang="sr-Latn-ME" sz="1100" dirty="0">
                <a:solidFill>
                  <a:schemeClr val="tx1"/>
                </a:solidFill>
                <a:latin typeface="Voltaire" panose="020B0604020202020204" charset="0"/>
              </a:rPr>
              <a:t>Slika 15, Kreiranje indeksa nad pogledom </a:t>
            </a:r>
          </a:p>
        </p:txBody>
      </p:sp>
    </p:spTree>
    <p:extLst>
      <p:ext uri="{BB962C8B-B14F-4D97-AF65-F5344CB8AC3E}">
        <p14:creationId xmlns:p14="http://schemas.microsoft.com/office/powerpoint/2010/main" val="42847990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20;p43">
            <a:extLst>
              <a:ext uri="{FF2B5EF4-FFF2-40B4-BE49-F238E27FC236}">
                <a16:creationId xmlns:a16="http://schemas.microsoft.com/office/drawing/2014/main" id="{0732AB48-51C4-42EA-94FD-B497D8799FA1}"/>
              </a:ext>
            </a:extLst>
          </p:cNvPr>
          <p:cNvSpPr txBox="1">
            <a:spLocks/>
          </p:cNvSpPr>
          <p:nvPr/>
        </p:nvSpPr>
        <p:spPr>
          <a:xfrm>
            <a:off x="442588" y="813333"/>
            <a:ext cx="7710775" cy="175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412750" indent="-28575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dirty="0"/>
              <a:t>Omogućavaju logičku podelu velike količine podataka koja postoji u velikim tabelama na manje delove, na osnovu specifičnih vrednosti kolona</a:t>
            </a:r>
          </a:p>
          <a:p>
            <a:pPr marL="412750" indent="-28575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dirty="0"/>
              <a:t>Nad kolonom za particionisanje treba definisati </a:t>
            </a:r>
            <a:r>
              <a:rPr lang="sr-Latn-RS" b="1" dirty="0">
                <a:solidFill>
                  <a:schemeClr val="accent5">
                    <a:lumMod val="75000"/>
                  </a:schemeClr>
                </a:solidFill>
              </a:rPr>
              <a:t>CHECK</a:t>
            </a:r>
            <a:r>
              <a:rPr lang="sr-Latn-RS" dirty="0"/>
              <a:t> ograničenje, kako bi se podaci podelili</a:t>
            </a:r>
          </a:p>
          <a:p>
            <a:pPr marL="412750" indent="-28575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dirty="0"/>
              <a:t>Particionisani pogled koji kombinuje </a:t>
            </a:r>
            <a:r>
              <a:rPr lang="sr-Latn-RS" b="1" dirty="0">
                <a:solidFill>
                  <a:schemeClr val="accent5">
                    <a:lumMod val="75000"/>
                  </a:schemeClr>
                </a:solidFill>
              </a:rPr>
              <a:t>SELECT</a:t>
            </a:r>
            <a:r>
              <a:rPr lang="sr-Latn-RS" dirty="0"/>
              <a:t> naredbe nad svih tabelama koje učestvuju korišćenjem operatora </a:t>
            </a:r>
            <a:r>
              <a:rPr lang="sr-Latn-RS" b="1" dirty="0">
                <a:solidFill>
                  <a:schemeClr val="accent5">
                    <a:lumMod val="75000"/>
                  </a:schemeClr>
                </a:solidFill>
              </a:rPr>
              <a:t>UNION</a:t>
            </a:r>
            <a:r>
              <a:rPr lang="sr-Latn-RS" b="1" dirty="0"/>
              <a:t> </a:t>
            </a:r>
            <a:r>
              <a:rPr lang="sr-Latn-RS" b="1" dirty="0">
                <a:solidFill>
                  <a:schemeClr val="accent5">
                    <a:lumMod val="75000"/>
                  </a:schemeClr>
                </a:solidFill>
              </a:rPr>
              <a:t>ALL</a:t>
            </a:r>
            <a:endParaRPr lang="sr-Latn-RS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Google Shape;615;p44">
            <a:extLst>
              <a:ext uri="{FF2B5EF4-FFF2-40B4-BE49-F238E27FC236}">
                <a16:creationId xmlns:a16="http://schemas.microsoft.com/office/drawing/2014/main" id="{CAA40535-46E0-42CB-B10B-4363B1817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5812" y="325683"/>
            <a:ext cx="80923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sz="2400" dirty="0"/>
              <a:t>04.0</a:t>
            </a:r>
            <a:r>
              <a:rPr lang="en-US" sz="2400" dirty="0"/>
              <a:t>3</a:t>
            </a:r>
            <a:r>
              <a:rPr lang="sr-Latn-ME" sz="2400" dirty="0"/>
              <a:t> Pogledi – </a:t>
            </a:r>
            <a:r>
              <a:rPr lang="en-US" sz="2400" dirty="0"/>
              <a:t>particionisanje</a:t>
            </a:r>
            <a:endParaRPr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2D0181-220E-42FA-A557-62AC11DA97F6}"/>
              </a:ext>
            </a:extLst>
          </p:cNvPr>
          <p:cNvPicPr/>
          <p:nvPr/>
        </p:nvPicPr>
        <p:blipFill rotWithShape="1">
          <a:blip r:embed="rId3"/>
          <a:srcRect t="3449" r="38914"/>
          <a:stretch/>
        </p:blipFill>
        <p:spPr bwMode="auto">
          <a:xfrm>
            <a:off x="525812" y="2498400"/>
            <a:ext cx="3772164" cy="2434616"/>
          </a:xfrm>
          <a:prstGeom prst="rect">
            <a:avLst/>
          </a:prstGeom>
          <a:ln w="12700">
            <a:solidFill>
              <a:schemeClr val="accent4">
                <a:lumMod val="60000"/>
                <a:lumOff val="40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51C36D-3B73-407E-966E-A4522838426D}"/>
              </a:ext>
            </a:extLst>
          </p:cNvPr>
          <p:cNvPicPr/>
          <p:nvPr/>
        </p:nvPicPr>
        <p:blipFill rotWithShape="1">
          <a:blip r:embed="rId4"/>
          <a:srcRect l="-1" t="-909" r="38232" b="9090"/>
          <a:stretch/>
        </p:blipFill>
        <p:spPr bwMode="auto">
          <a:xfrm>
            <a:off x="4503280" y="2498400"/>
            <a:ext cx="3880801" cy="2434616"/>
          </a:xfrm>
          <a:prstGeom prst="rect">
            <a:avLst/>
          </a:prstGeom>
          <a:ln w="12700">
            <a:solidFill>
              <a:schemeClr val="accent4">
                <a:lumMod val="60000"/>
                <a:lumOff val="40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Google Shape;520;p43">
            <a:extLst>
              <a:ext uri="{FF2B5EF4-FFF2-40B4-BE49-F238E27FC236}">
                <a16:creationId xmlns:a16="http://schemas.microsoft.com/office/drawing/2014/main" id="{507651AB-01F9-4192-A94B-E953F27FA6F8}"/>
              </a:ext>
            </a:extLst>
          </p:cNvPr>
          <p:cNvSpPr txBox="1">
            <a:spLocks/>
          </p:cNvSpPr>
          <p:nvPr/>
        </p:nvSpPr>
        <p:spPr>
          <a:xfrm>
            <a:off x="1015200" y="4817817"/>
            <a:ext cx="2937601" cy="379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0" indent="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</a:pPr>
            <a:r>
              <a:rPr lang="sr-Latn-ME" sz="1100" dirty="0">
                <a:solidFill>
                  <a:schemeClr val="tx1"/>
                </a:solidFill>
                <a:latin typeface="Voltaire" panose="020B0604020202020204" charset="0"/>
              </a:rPr>
              <a:t>Slika 16, Kreiranje tabele za particionisani pogled</a:t>
            </a:r>
          </a:p>
        </p:txBody>
      </p:sp>
      <p:sp>
        <p:nvSpPr>
          <p:cNvPr id="8" name="Google Shape;520;p43">
            <a:extLst>
              <a:ext uri="{FF2B5EF4-FFF2-40B4-BE49-F238E27FC236}">
                <a16:creationId xmlns:a16="http://schemas.microsoft.com/office/drawing/2014/main" id="{A90528E8-143C-4EDD-B38B-10EF6693913B}"/>
              </a:ext>
            </a:extLst>
          </p:cNvPr>
          <p:cNvSpPr txBox="1">
            <a:spLocks/>
          </p:cNvSpPr>
          <p:nvPr/>
        </p:nvSpPr>
        <p:spPr>
          <a:xfrm>
            <a:off x="5104799" y="4817817"/>
            <a:ext cx="4426971" cy="379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0" indent="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</a:pPr>
            <a:r>
              <a:rPr lang="sr-Latn-ME" sz="1100" dirty="0">
                <a:solidFill>
                  <a:schemeClr val="tx1"/>
                </a:solidFill>
                <a:latin typeface="Voltaire" panose="020B0604020202020204" charset="0"/>
              </a:rPr>
              <a:t>Slika 17, Kreiranje tabele za particionisani pogled</a:t>
            </a:r>
          </a:p>
        </p:txBody>
      </p:sp>
    </p:spTree>
    <p:extLst>
      <p:ext uri="{BB962C8B-B14F-4D97-AF65-F5344CB8AC3E}">
        <p14:creationId xmlns:p14="http://schemas.microsoft.com/office/powerpoint/2010/main" val="18984509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20;p43">
            <a:extLst>
              <a:ext uri="{FF2B5EF4-FFF2-40B4-BE49-F238E27FC236}">
                <a16:creationId xmlns:a16="http://schemas.microsoft.com/office/drawing/2014/main" id="{0732AB48-51C4-42EA-94FD-B497D8799FA1}"/>
              </a:ext>
            </a:extLst>
          </p:cNvPr>
          <p:cNvSpPr txBox="1">
            <a:spLocks/>
          </p:cNvSpPr>
          <p:nvPr/>
        </p:nvSpPr>
        <p:spPr>
          <a:xfrm>
            <a:off x="432001" y="1096791"/>
            <a:ext cx="7710775" cy="85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412750" indent="-285750" algn="l"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dirty="0"/>
              <a:t>Korišćenje kolone za particionisanje, uključene u CHECK ograničenje, poboljšati performanse upita u ovoj situaciji, jer će posetiti samo tabelu koja sadrži tražene podatke. </a:t>
            </a:r>
            <a:endParaRPr lang="sr-Latn-RS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Google Shape;615;p44">
            <a:extLst>
              <a:ext uri="{FF2B5EF4-FFF2-40B4-BE49-F238E27FC236}">
                <a16:creationId xmlns:a16="http://schemas.microsoft.com/office/drawing/2014/main" id="{CAA40535-46E0-42CB-B10B-4363B1817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5812" y="325683"/>
            <a:ext cx="80923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sz="2400" dirty="0"/>
              <a:t>04.0</a:t>
            </a:r>
            <a:r>
              <a:rPr lang="en-US" sz="2400" dirty="0"/>
              <a:t>3</a:t>
            </a:r>
            <a:r>
              <a:rPr lang="sr-Latn-ME" sz="2400" dirty="0"/>
              <a:t> Pogledi – </a:t>
            </a:r>
            <a:r>
              <a:rPr lang="en-US" sz="2400" dirty="0"/>
              <a:t>particionisanje</a:t>
            </a:r>
            <a:endParaRPr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894DD1-7C6F-4E11-B0D3-A63071987523}"/>
              </a:ext>
            </a:extLst>
          </p:cNvPr>
          <p:cNvPicPr/>
          <p:nvPr/>
        </p:nvPicPr>
        <p:blipFill rotWithShape="1">
          <a:blip r:embed="rId3"/>
          <a:srcRect l="-1" r="348" b="63513"/>
          <a:stretch/>
        </p:blipFill>
        <p:spPr bwMode="auto">
          <a:xfrm>
            <a:off x="1596071" y="2300333"/>
            <a:ext cx="5951855" cy="773633"/>
          </a:xfrm>
          <a:prstGeom prst="rect">
            <a:avLst/>
          </a:prstGeom>
          <a:ln w="127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round/>
            <a:headEnd type="none" w="med" len="med"/>
            <a:tailEnd type="none" w="med" len="med"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CAC795-597C-440D-8024-6BEACBA6E9EB}"/>
              </a:ext>
            </a:extLst>
          </p:cNvPr>
          <p:cNvPicPr/>
          <p:nvPr/>
        </p:nvPicPr>
        <p:blipFill rotWithShape="1">
          <a:blip r:embed="rId3"/>
          <a:srcRect l="-1" t="52073" r="348" b="6260"/>
          <a:stretch/>
        </p:blipFill>
        <p:spPr bwMode="auto">
          <a:xfrm>
            <a:off x="1596072" y="3803383"/>
            <a:ext cx="5951855" cy="883467"/>
          </a:xfrm>
          <a:prstGeom prst="rect">
            <a:avLst/>
          </a:prstGeom>
          <a:ln w="127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round/>
            <a:headEnd type="none" w="med" len="med"/>
            <a:tailEnd type="none" w="med" len="med"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63B406C-1BD6-47D0-A25D-731A86BE5EA3}"/>
              </a:ext>
            </a:extLst>
          </p:cNvPr>
          <p:cNvPicPr/>
          <p:nvPr/>
        </p:nvPicPr>
        <p:blipFill rotWithShape="1">
          <a:blip r:embed="rId3"/>
          <a:srcRect l="-844" t="37173" r="1191" b="54060"/>
          <a:stretch/>
        </p:blipFill>
        <p:spPr bwMode="auto">
          <a:xfrm>
            <a:off x="1596072" y="3617500"/>
            <a:ext cx="5951854" cy="185883"/>
          </a:xfrm>
          <a:prstGeom prst="rect">
            <a:avLst/>
          </a:prstGeom>
          <a:ln w="127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round/>
            <a:headEnd type="none" w="med" len="med"/>
            <a:tailEnd type="none" w="med" len="med"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Google Shape;520;p43">
            <a:extLst>
              <a:ext uri="{FF2B5EF4-FFF2-40B4-BE49-F238E27FC236}">
                <a16:creationId xmlns:a16="http://schemas.microsoft.com/office/drawing/2014/main" id="{F4B2A804-B2F6-4347-A68F-6156DFDA38FD}"/>
              </a:ext>
            </a:extLst>
          </p:cNvPr>
          <p:cNvSpPr txBox="1">
            <a:spLocks/>
          </p:cNvSpPr>
          <p:nvPr/>
        </p:nvSpPr>
        <p:spPr>
          <a:xfrm>
            <a:off x="2779199" y="2954724"/>
            <a:ext cx="4426971" cy="379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0" indent="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</a:pPr>
            <a:r>
              <a:rPr lang="sr-Latn-ME" sz="1100" dirty="0">
                <a:solidFill>
                  <a:schemeClr val="tx1"/>
                </a:solidFill>
                <a:latin typeface="Voltaire" panose="020B0604020202020204" charset="0"/>
              </a:rPr>
              <a:t>Slika 18, Plan izvršenja upita koji pretražuje po particionisanoj koloni</a:t>
            </a:r>
          </a:p>
        </p:txBody>
      </p:sp>
      <p:sp>
        <p:nvSpPr>
          <p:cNvPr id="13" name="Google Shape;520;p43">
            <a:extLst>
              <a:ext uri="{FF2B5EF4-FFF2-40B4-BE49-F238E27FC236}">
                <a16:creationId xmlns:a16="http://schemas.microsoft.com/office/drawing/2014/main" id="{4FA70580-B550-471C-895F-450A505C19CA}"/>
              </a:ext>
            </a:extLst>
          </p:cNvPr>
          <p:cNvSpPr txBox="1">
            <a:spLocks/>
          </p:cNvSpPr>
          <p:nvPr/>
        </p:nvSpPr>
        <p:spPr>
          <a:xfrm>
            <a:off x="2779198" y="4627872"/>
            <a:ext cx="4426971" cy="379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0" indent="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</a:pPr>
            <a:r>
              <a:rPr lang="sr-Latn-ME" sz="1100" dirty="0">
                <a:solidFill>
                  <a:schemeClr val="tx1"/>
                </a:solidFill>
                <a:latin typeface="Voltaire" panose="020B0604020202020204" charset="0"/>
              </a:rPr>
              <a:t>Slika 19, Plan izvršenja upita koji pretražuje po koloni koja nije particionisana</a:t>
            </a:r>
          </a:p>
        </p:txBody>
      </p:sp>
    </p:spTree>
    <p:extLst>
      <p:ext uri="{BB962C8B-B14F-4D97-AF65-F5344CB8AC3E}">
        <p14:creationId xmlns:p14="http://schemas.microsoft.com/office/powerpoint/2010/main" val="2151995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20;p43">
            <a:extLst>
              <a:ext uri="{FF2B5EF4-FFF2-40B4-BE49-F238E27FC236}">
                <a16:creationId xmlns:a16="http://schemas.microsoft.com/office/drawing/2014/main" id="{0732AB48-51C4-42EA-94FD-B497D8799FA1}"/>
              </a:ext>
            </a:extLst>
          </p:cNvPr>
          <p:cNvSpPr txBox="1">
            <a:spLocks/>
          </p:cNvSpPr>
          <p:nvPr/>
        </p:nvSpPr>
        <p:spPr>
          <a:xfrm>
            <a:off x="381601" y="1186383"/>
            <a:ext cx="7710775" cy="3263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412750" indent="-28575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b="1" dirty="0">
                <a:solidFill>
                  <a:schemeClr val="tx1"/>
                </a:solidFill>
              </a:rPr>
              <a:t>MS SQL Server je </a:t>
            </a:r>
            <a:r>
              <a:rPr lang="sr-Latn-RS" b="1" dirty="0" err="1">
                <a:solidFill>
                  <a:schemeClr val="tx1"/>
                </a:solidFill>
              </a:rPr>
              <a:t>višenamenska</a:t>
            </a:r>
            <a:r>
              <a:rPr lang="sr-Latn-RS" b="1" dirty="0">
                <a:solidFill>
                  <a:schemeClr val="tx1"/>
                </a:solidFill>
              </a:rPr>
              <a:t>, relaciona baza podataka, koja može da čuva bilo koje podatke</a:t>
            </a:r>
          </a:p>
          <a:p>
            <a:pPr marL="412750" indent="-28575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b="1" dirty="0">
                <a:solidFill>
                  <a:schemeClr val="tx1"/>
                </a:solidFill>
              </a:rPr>
              <a:t>Podrazumevana podešavanja SQL Server-a nisu pogodna u svim slučajevima korišćenja</a:t>
            </a:r>
          </a:p>
          <a:p>
            <a:pPr marL="412750" indent="-28575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b="1" dirty="0">
                <a:solidFill>
                  <a:schemeClr val="tx1"/>
                </a:solidFill>
              </a:rPr>
              <a:t>Briga o veličini kolona, veličini zapisa, odabiru pravih struktura i načinu njihovog korišćenja</a:t>
            </a:r>
            <a:r>
              <a:rPr lang="en-US" b="1" dirty="0">
                <a:solidFill>
                  <a:schemeClr val="tx1"/>
                </a:solidFill>
              </a:rPr>
              <a:t> = </a:t>
            </a:r>
            <a:r>
              <a:rPr lang="sr-Latn-RS" b="1" dirty="0">
                <a:solidFill>
                  <a:schemeClr val="tx1"/>
                </a:solidFill>
              </a:rPr>
              <a:t>efikasnije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sr-Latn-RS" b="1" dirty="0">
                <a:solidFill>
                  <a:schemeClr val="tx1"/>
                </a:solidFill>
              </a:rPr>
              <a:t>iskorišćeni resursi</a:t>
            </a:r>
          </a:p>
          <a:p>
            <a:pPr marL="412750" indent="-28575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sr-Latn-RS" b="1" dirty="0">
                <a:solidFill>
                  <a:schemeClr val="tx1"/>
                </a:solidFill>
              </a:rPr>
              <a:t>Dobar fizički dizajn </a:t>
            </a:r>
            <a:r>
              <a:rPr lang="en-US" b="1" dirty="0">
                <a:solidFill>
                  <a:schemeClr val="tx1"/>
                </a:solidFill>
              </a:rPr>
              <a:t>= </a:t>
            </a:r>
            <a:r>
              <a:rPr lang="en-US" b="1" dirty="0" err="1">
                <a:solidFill>
                  <a:schemeClr val="tx1"/>
                </a:solidFill>
              </a:rPr>
              <a:t>lak</a:t>
            </a:r>
            <a:r>
              <a:rPr lang="sr-Latn-RS" b="1" dirty="0" err="1">
                <a:solidFill>
                  <a:schemeClr val="tx1"/>
                </a:solidFill>
              </a:rPr>
              <a:t>še</a:t>
            </a:r>
            <a:r>
              <a:rPr lang="sr-Latn-RS" b="1" dirty="0">
                <a:solidFill>
                  <a:schemeClr val="tx1"/>
                </a:solidFill>
              </a:rPr>
              <a:t> održavanje, </a:t>
            </a:r>
            <a:r>
              <a:rPr lang="sr-Latn-RS" b="1" i="1" dirty="0" err="1">
                <a:solidFill>
                  <a:schemeClr val="tx1"/>
                </a:solidFill>
              </a:rPr>
              <a:t>backup</a:t>
            </a:r>
            <a:r>
              <a:rPr lang="sr-Latn-RS" b="1" i="1" dirty="0">
                <a:solidFill>
                  <a:schemeClr val="tx1"/>
                </a:solidFill>
              </a:rPr>
              <a:t>, </a:t>
            </a:r>
            <a:r>
              <a:rPr lang="sr-Latn-RS" b="1" dirty="0">
                <a:solidFill>
                  <a:schemeClr val="tx1"/>
                </a:solidFill>
              </a:rPr>
              <a:t>logovanje, pretraživanje i skalabilna aplikacija</a:t>
            </a:r>
            <a:endParaRPr lang="en-US" b="1" dirty="0">
              <a:solidFill>
                <a:schemeClr val="tx1"/>
              </a:solidFill>
            </a:endParaRPr>
          </a:p>
          <a:p>
            <a:pPr marL="412750" indent="-285750" algn="l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endParaRPr lang="sr-Latn-RS" sz="1400" b="1" dirty="0">
              <a:solidFill>
                <a:schemeClr val="tx1"/>
              </a:solidFill>
            </a:endParaRPr>
          </a:p>
        </p:txBody>
      </p:sp>
      <p:sp>
        <p:nvSpPr>
          <p:cNvPr id="10" name="Google Shape;615;p44">
            <a:extLst>
              <a:ext uri="{FF2B5EF4-FFF2-40B4-BE49-F238E27FC236}">
                <a16:creationId xmlns:a16="http://schemas.microsoft.com/office/drawing/2014/main" id="{CAA40535-46E0-42CB-B10B-4363B1817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5812" y="325683"/>
            <a:ext cx="80923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sz="2400" dirty="0"/>
              <a:t>05 Zaključak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3565116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73"/>
          <p:cNvSpPr txBox="1">
            <a:spLocks noGrp="1"/>
          </p:cNvSpPr>
          <p:nvPr>
            <p:ph type="title"/>
          </p:nvPr>
        </p:nvSpPr>
        <p:spPr>
          <a:xfrm>
            <a:off x="2061300" y="557057"/>
            <a:ext cx="5140350" cy="95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6000" dirty="0"/>
              <a:t>Hvala na pažnji!</a:t>
            </a:r>
            <a:endParaRPr sz="6000" dirty="0"/>
          </a:p>
        </p:txBody>
      </p:sp>
      <p:sp>
        <p:nvSpPr>
          <p:cNvPr id="1448" name="Google Shape;1448;p73"/>
          <p:cNvSpPr txBox="1">
            <a:spLocks noGrp="1"/>
          </p:cNvSpPr>
          <p:nvPr>
            <p:ph type="subTitle" idx="1"/>
          </p:nvPr>
        </p:nvSpPr>
        <p:spPr>
          <a:xfrm>
            <a:off x="2837250" y="1727700"/>
            <a:ext cx="3469500" cy="11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>
                <a:solidFill>
                  <a:schemeClr val="tx1"/>
                </a:solidFill>
              </a:rPr>
              <a:t>Pitanja</a:t>
            </a:r>
            <a:r>
              <a:rPr lang="en-US" dirty="0">
                <a:solidFill>
                  <a:schemeClr val="tx1"/>
                </a:solidFill>
              </a:rPr>
              <a:t>:</a:t>
            </a:r>
            <a:br>
              <a:rPr lang="sr-Latn-R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  <a:hlinkClick r:id="rId3"/>
              </a:rPr>
              <a:t>sofija</a:t>
            </a:r>
            <a:r>
              <a:rPr lang="en-US" dirty="0">
                <a:solidFill>
                  <a:schemeClr val="tx1"/>
                </a:solidFill>
                <a:hlinkClick r:id="rId3"/>
              </a:rPr>
              <a:t>.</a:t>
            </a:r>
            <a:r>
              <a:rPr lang="sr-Latn-ME" dirty="0">
                <a:solidFill>
                  <a:schemeClr val="tx1"/>
                </a:solidFill>
                <a:hlinkClick r:id="rId3"/>
              </a:rPr>
              <a:t>p</a:t>
            </a:r>
            <a:r>
              <a:rPr lang="en-US" dirty="0">
                <a:solidFill>
                  <a:schemeClr val="tx1"/>
                </a:solidFill>
                <a:hlinkClick r:id="rId3"/>
              </a:rPr>
              <a:t>etrovic@elfak.rs</a:t>
            </a:r>
            <a:r>
              <a:rPr lang="sr-Latn-ME" dirty="0">
                <a:solidFill>
                  <a:schemeClr val="tx1"/>
                </a:solidFill>
              </a:rPr>
              <a:t> 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men in Science by Slidesgo">
  <a:themeElements>
    <a:clrScheme name="Simple Light">
      <a:dk1>
        <a:srgbClr val="543348"/>
      </a:dk1>
      <a:lt1>
        <a:srgbClr val="EFF4F4"/>
      </a:lt1>
      <a:dk2>
        <a:srgbClr val="D2E6E4"/>
      </a:dk2>
      <a:lt2>
        <a:srgbClr val="6E6E80"/>
      </a:lt2>
      <a:accent1>
        <a:srgbClr val="F7DB56"/>
      </a:accent1>
      <a:accent2>
        <a:srgbClr val="794F5B"/>
      </a:accent2>
      <a:accent3>
        <a:srgbClr val="EC6255"/>
      </a:accent3>
      <a:accent4>
        <a:srgbClr val="B9595B"/>
      </a:accent4>
      <a:accent5>
        <a:srgbClr val="EEA294"/>
      </a:accent5>
      <a:accent6>
        <a:srgbClr val="EFF4F4"/>
      </a:accent6>
      <a:hlink>
        <a:srgbClr val="30202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2307</Words>
  <Application>Microsoft Office PowerPoint</Application>
  <PresentationFormat>On-screen Show (16:9)</PresentationFormat>
  <Paragraphs>170</Paragraphs>
  <Slides>29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Tajawal</vt:lpstr>
      <vt:lpstr>Arial</vt:lpstr>
      <vt:lpstr>Voltaire</vt:lpstr>
      <vt:lpstr>Women in Science by Slidesgo</vt:lpstr>
      <vt:lpstr>PowerPoint Presentation</vt:lpstr>
      <vt:lpstr>PowerPoint Presentation</vt:lpstr>
      <vt:lpstr>01 Uvod</vt:lpstr>
      <vt:lpstr>02.01 SQL Server fajl sistem</vt:lpstr>
      <vt:lpstr>02.01 SQL Server fajl sistem</vt:lpstr>
      <vt:lpstr>02.01 SQL Server fajl sistem</vt:lpstr>
      <vt:lpstr>02.01 Skladištenje podataka – Row, Page, Extent</vt:lpstr>
      <vt:lpstr>02.02 Skladištenje podataka – strukture za čuvanje zapisa</vt:lpstr>
      <vt:lpstr>02.03 Skladištenje podataka – vertikalno particionisanje</vt:lpstr>
      <vt:lpstr>02.03 Tipovi podataka - Tekstualni</vt:lpstr>
      <vt:lpstr>02.03 Tipovi podataka - Numerički</vt:lpstr>
      <vt:lpstr>02.04 Tipovi podataka – Implicitna konverzija</vt:lpstr>
      <vt:lpstr>02.05 Kompresija podataka</vt:lpstr>
      <vt:lpstr>02.05 Kompresija podataka</vt:lpstr>
      <vt:lpstr>03.01 Normalizacija</vt:lpstr>
      <vt:lpstr>PowerPoint Presentation</vt:lpstr>
      <vt:lpstr>03.02.01 Ograničenja – Null, Default, Unique, Check, Foreign Key</vt:lpstr>
      <vt:lpstr>03.02.01 Ograničenja – Clustered Index, Heap, Non-clustered Index</vt:lpstr>
      <vt:lpstr>03.02.01 Ograničenja – Clustered Index, Heap, Non-clustered Index</vt:lpstr>
      <vt:lpstr>03.02.01 Ograničenja – Clustered Index, Heap, Non-clustered Index</vt:lpstr>
      <vt:lpstr>03.02.01 Ograničenja – Clustered Index, Heap, Non-clustered Index</vt:lpstr>
      <vt:lpstr>04.01 Pogledi</vt:lpstr>
      <vt:lpstr>04.01 Pogledi – SCHEMABINDING</vt:lpstr>
      <vt:lpstr>04.01 Pogledi – ažuriranja</vt:lpstr>
      <vt:lpstr>04.02 Pogledi – indeksiranje</vt:lpstr>
      <vt:lpstr>04.03 Pogledi – particionisanje</vt:lpstr>
      <vt:lpstr>04.03 Pogledi – particionisanje</vt:lpstr>
      <vt:lpstr>05 Zaključak</vt:lpstr>
      <vt:lpstr>Hvala na pažnji!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Fizičko projektovanje baze i optimizacija podataka</dc:title>
  <dc:creator>Petrovic Sofija</dc:creator>
  <cp:lastModifiedBy>Petrovic Sofija</cp:lastModifiedBy>
  <cp:revision>30</cp:revision>
  <dcterms:modified xsi:type="dcterms:W3CDTF">2021-04-14T06:18:14Z</dcterms:modified>
</cp:coreProperties>
</file>